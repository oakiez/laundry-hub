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i="0" lang="th-TH">
                <a:solidFill>
                  <a:srgbClr val="0B2545"/>
                </a:solidFill>
                <a:latin typeface="Tahoma"/>
                <a:ea typeface="Tahoma"/>
                <a:cs typeface="Tahoma"/>
              </a:rPr>
              <a:t>เทสต์ที่ผ่านในรอบปกติ แยกตามโมดูล</a:t>
            </a:r>
          </a:p>
        </c:rich>
      </c:tx>
      <c:layout/>
      <c:overlay val="0"/>
    </c:title>
    <c:autoTitleDeleted val="0"/>
    <c:plotArea>
      <c:barChart>
        <c:barDir val="col"/>
        <c:grouping val="clustered"/>
        <c:ser>
          <c:idx val="0"/>
          <c:order val="0"/>
          <c:tx>
            <c:strRef>
              <c:f>Sheet1!$B$1</c:f>
              <c:strCache>
                <c:ptCount val="1"/>
                <c:pt idx="0">
                  <c:v>เทสต์ที่ผ่าน (รอบปกติ)</c:v>
                </c:pt>
              </c:strCache>
            </c:strRef>
          </c:tx>
          <c:spPr>
            <a:solidFill>
              <a:srgbClr val="139A8E"/>
            </a:solidFill>
          </c:spPr>
          <c:cat>
            <c:strRef>
              <c:f>Sheet1!$A$2:$A$5</c:f>
              <c:strCache>
                <c:ptCount val="4"/>
                <c:pt idx="0">
                  <c:v>โชกุน</c:v>
                </c:pt>
                <c:pt idx="1">
                  <c:v>โอ๊ค</c:v>
                </c:pt>
                <c:pt idx="2">
                  <c:v>พีช</c:v>
                </c:pt>
                <c:pt idx="3">
                  <c:v>ปอนด์</c:v>
                </c:pt>
              </c:strCache>
            </c:strRef>
          </c:cat>
          <c:val>
            <c:numRef>
              <c:f>Sheet1!$B$2:$B$5</c:f>
              <c:numCache>
                <c:formatCode>General</c:formatCode>
                <c:ptCount val="4"/>
                <c:pt idx="0">
                  <c:v>102</c:v>
                </c:pt>
                <c:pt idx="1">
                  <c:v>29</c:v>
                </c:pt>
                <c:pt idx="2">
                  <c:v>69</c:v>
                </c:pt>
                <c:pt idx="3">
                  <c:v>97</c:v>
                </c:pt>
              </c:numCache>
            </c:numRef>
          </c:val>
        </c:ser>
        <c:dLbls>
          <c:txPr>
            <a:bodyPr/>
            <a:lstStyle/>
            <a:p>
              <a:pPr>
                <a:defRPr sz="16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400">
          <a:latin typeface="Tahom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สวัสดีครับ ผมภีมเดช หรือโชกุน รับผิดชอบส่วน Payment, Notification และ API Quality ของ LaundryHub ส่วนของผมคือตัวเชื่อมระหว่างโมดูลออเดอร์กับโมดูลเครื่องซัก คือรับเงินและแจ้งเตือนผู้ใช้ พร้อมดูแลให้ทุก error ของระบบตอบกลับรูปแบบเดียวกัน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ส่วนของผมแบ่งเป็นสามก้อนครับ ก้อนแรก Payment คือรับเงินด้วยเงินสด QR หรือเหรียญ ก้อนที่สอง Notification คือแจ้งเตือนในระบบเมื่อสถานะเปลี่ยนหรือชำระเงินสำเร็จ และก้อนที่สาม API Quality คือให้ error ทุกแบบตอบรูปแบบเดียวกัน พร้อมเอกสาร Swagger ตัวเลขด้านล่างคือผลทดสอบจริง ตรวจซ้ำก่อนนำเสนอด้วย mvn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นี่คือเส้นทางของการชำระเงินหนึ่งครั้งครับ ผู้ใช้ส่ง POST มาที่ payments โดยไม่ต้องส่งยอดเงิน CheckoutFacade เป็นคนประสานงาน: หา payable ของออเดอร์หรือรอบใช้เครื่องผ่าน PayableProvider ตรวจว่าเป็นเจ้าของหรือพนักงาน แล้วให้ PaymentService สร้างรายการ ซึ่งจะกันจ่ายซ้ำและเรียก processor ตามวิธีชำระ เงินสดได้สถานะรอยืนยัน QR และเหรียญได้จ่ายแล้วทันที ถ้าจ่ายแล้ว Facade ยิง event ให้ระบบแจ้งเตือนส่งข้อความหาเจ้าของ จุดสำคัญคือ Controller ไม่แตะ Repository และไม่คืน Entity ตรงๆ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ทุกตัวมีเหตุผลครับ Strategy กับ Factory: วิธีจ่ายแต่ละแบบเป็นคลาสแยก ตัว Factory รับ List ของ processor ผ่าน constructor เพิ่ม CoinProcessor ก็แค่เพิ่มคลาสเดียว ไม่แก้ Factory หรือ Service นี่คือ Open-Closed Facade รวมสี่ขั้นตอนของ checkout ไว้จุดเดียว Observer ทำให้โมดูลอื่นแค่ยิง event โดยไม่รู้จักระบบแจ้งเตือน ผมเลือกแบบ synchronous เพราะอยากให้ข้อมูลสอดคล้องกัน ถ้าแจ้งเตือนพัง ธุรกรรมหลักจะ rollback ด้วย และขอบอกตรงๆ ว่า Factory ของผมเป็น Simple Factory แบบ registry ไม่ใช่ Factory Method ตามตำราของ GoF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ผมทำ GlobalExceptionHandler ตัวเดียวเป็นจุดกลางที่แปลง exception เป็น ApiErrorResponse รูปแบบเดียวกันทั้งระบบ ตารางซ้ายคือสถานะที่ตอบ ขวาคือหน้าตา JSON ที่ได้ สิ่งที่ตั้งใจคือ 500 จะไม่ส่งข้อความภายในหรือ stack trace ออกไป และ error ของฐานข้อมูลก็ไม่เปิดชื่อ constraint ผมทดสอบกับแอปจริงแล้ว 401, 403, 404 และ 400 ตอบรูปแบบเดียวกันหมด ส่วนบั๊กที่เจอระหว่างทางจะเล่าในสไลด์ถัดๆ ไป</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กฎสำคัญของ Payment มีสี่ข้อครับ หนึ่ง ยอดเงินมาจากเซิร์ฟเวอร์เท่านั้น CheckoutRequest ไม่มีฟิลด์ amount กันการแก้ราคา สอง ตรวจเจ้าของก่อนสร้างรายการ สาม กันจ่ายซ้ำสองชั้น ในโค้ดเพื่อให้ข้อความอ่านง่าย และ UNIQUE ในฐานข้อมูลเพื่อกันสองคำขอพร้อมกัน สี่ ตาราง payments มี foreign key สองตัวคือ order กับ session แต่ CHECK บังคับว่าต้องมีค่าเพียงตัวเดียว ผมพิสูจน์ทั้งหมดนี้กับ PostgreSQL จริงแล้ว ด้วยเทสต์ 13 ข้อที่ตรวจชื่อ constraint ที่ฐานข้อมูลตอบกลับ</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เรื่องการทดสอบ ตัวเลขทางซ้าย: 102 unit test ของโมดูลผมผ่านทั้งหมด รวมเทสต์หน้าเว็บ 20 ข้อ 13 เทสต์ตรวจ constraint กับ PostgreSQL จริง และรอบเต็มของทั้งโปรเจคมี 332 เทสต์ผ่านหมด ข้าม 35 ข้อที่ต้องเปิดฐานข้อมูลเอง ซึ่งเมื่อเปิดแล้วรันครบ 342 ข้อ ผ่านทั้งหมด กราฟขวาแสดงเทสต์ที่ผ่านในรอบปกติแยกตามโมดูล ของปอนด์มีเทสต์ที่ต้องต่อฐานข้อมูลอีก 22 ข้อ ซึ่งรันแล้วผ่านเมื่อเปิดสวิตช์ ตรวจตัวเลขทั้งหมดกับ doc/test-report ก่อนนำเสนออีกครั้ง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ส่วนนี้ผมอยากเล่าเรื่องจริงที่เจอ เพราะแสดงว่าเทสต์และการรีวิวทำงานจริงครับ หนึ่ง เทสต์ล้มแปดข้อเพราะ ControllerAdvice ถูกจำกัดขอบเขตผิด สอง ปอนด์รีวิวแล้วชี้ว่า handler ของ Exception กลืน error ของ Spring ทำให้ 405 กลายเป็น 500 สาม ตอนทดสอบกับแอปจริง ใส่ sort=abc แล้วได้ 500 จึงทำ whitelist ฟิลด์ที่เรียงได้ สี่ จุดเล็กๆ จากรีวิวคือ markPaid เรียกซ้ำเขียนทับเวลา และ notifyUser ไม่ตรวจ input ทุกข้อแก้แล้วและมีเทสต์ครอบ รายละเอียดอยู่ใน test report หัวข้อ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ปิดท้ายด้วยข้อจำกัดที่ผมรู้ตรงๆ ครับ ยังไม่มีเทสต์จ่ายซ้ำพร้อมกันจริง สิทธิ์ที่ @PreAuthorize ผมยืนยันด้วยมือ ยังไม่มีเทสต์อัตโนมัติ และเทสต์ที่ต่อฐานข้อมูลเป็นแบบเปิดเองยังไม่รันใน CI หน้าเว็บชำระเงินกับกล่องแจ้งเตือนทำเสร็จแล้ว แต่ยังไม่มีเทสต์ที่ render template อัตโนมัติ ผมเจอบั๊ก dropdown ว่างตอนเปิดหน้าจริง ซึ่งเทสต์ระดับ controller จับไม่ได้ สิ่งที่ทำต่อคือเพิ่ม Postgres ใน CI เพิ่มเทสต์ render หน้าเว็บ และทำหน้าเว็บจองเครื่องต่อจาก API จองเครื่องที่ปอนด์ทำไว้แล้ว เพื่อทดสอบ flow ตั้งแต่จองจนถึงจ่ายเงินผ่านหน้าเว็บ ขอบคุณครับ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Title"/>
          <p:cNvSpPr txBox="1"/>
          <p:nvPr/>
        </p:nvSpPr>
        <p:spPr>
          <a:xfrm>
            <a:off x="731520" y="1463040"/>
            <a:ext cx="10698480" cy="1737360"/>
          </a:xfrm>
          <a:prstGeom prst="rect">
            <a:avLst/>
          </a:prstGeom>
          <a:noFill/>
        </p:spPr>
        <p:txBody>
          <a:bodyPr wrap="square" lIns="45720" rIns="45720" tIns="27432" bIns="27432" anchor="t">
            <a:spAutoFit/>
          </a:bodyPr>
          <a:lstStyle/>
          <a:p>
            <a:pPr algn="l">
              <a:spcAft>
                <a:spcPts val="0"/>
              </a:spcAft>
            </a:pPr>
            <a:r>
              <a:rPr sz="4400" b="1" i="0" lang="th-TH">
                <a:solidFill>
                  <a:srgbClr val="FFFFFF"/>
                </a:solidFill>
                <a:latin typeface="Tahoma"/>
                <a:ea typeface="Tahoma"/>
                <a:cs typeface="Tahoma"/>
              </a:rPr>
              <a:t>Payment · Notification
· API Quality</a:t>
            </a:r>
          </a:p>
        </p:txBody>
      </p:sp>
      <p:sp>
        <p:nvSpPr>
          <p:cNvPr id="3" name="TextBox 2"/>
          <p:cNvSpPr txBox="1"/>
          <p:nvPr/>
        </p:nvSpPr>
        <p:spPr>
          <a:xfrm>
            <a:off x="731520" y="3474720"/>
            <a:ext cx="10698480" cy="548640"/>
          </a:xfrm>
          <a:prstGeom prst="rect">
            <a:avLst/>
          </a:prstGeom>
          <a:noFill/>
        </p:spPr>
        <p:txBody>
          <a:bodyPr wrap="square" lIns="45720" rIns="45720" tIns="27432" bIns="27432" anchor="t">
            <a:spAutoFit/>
          </a:bodyPr>
          <a:lstStyle/>
          <a:p>
            <a:pPr algn="l">
              <a:spcAft>
                <a:spcPts val="0"/>
              </a:spcAft>
            </a:pPr>
            <a:r>
              <a:rPr sz="2400" b="0" i="0" lang="th-TH">
                <a:solidFill>
                  <a:srgbClr val="B8D8D4"/>
                </a:solidFill>
                <a:latin typeface="Tahoma"/>
                <a:ea typeface="Tahoma"/>
                <a:cs typeface="Tahoma"/>
              </a:rPr>
              <a:t>LaundryHub — ภีมเดช กลั่นกิ่ง (โชกุน)</a:t>
            </a:r>
          </a:p>
        </p:txBody>
      </p:sp>
      <p:sp>
        <p:nvSpPr>
          <p:cNvPr id="4" name="TextBox 3"/>
          <p:cNvSpPr txBox="1"/>
          <p:nvPr/>
        </p:nvSpPr>
        <p:spPr>
          <a:xfrm>
            <a:off x="731520" y="4069080"/>
            <a:ext cx="10698480" cy="457200"/>
          </a:xfrm>
          <a:prstGeom prst="rect">
            <a:avLst/>
          </a:prstGeom>
          <a:noFill/>
        </p:spPr>
        <p:txBody>
          <a:bodyPr wrap="square" lIns="45720" rIns="45720" tIns="27432" bIns="27432" anchor="t">
            <a:spAutoFit/>
          </a:bodyPr>
          <a:lstStyle/>
          <a:p>
            <a:pPr algn="l">
              <a:spcAft>
                <a:spcPts val="0"/>
              </a:spcAft>
            </a:pPr>
            <a:r>
              <a:rPr sz="1400" b="0" i="0" lang="th-TH">
                <a:solidFill>
                  <a:srgbClr val="B8D8D4"/>
                </a:solidFill>
                <a:latin typeface="Tahoma"/>
                <a:ea typeface="Tahoma"/>
                <a:cs typeface="Tahoma"/>
              </a:rPr>
              <a:t>CP353002 Principles of Software Design and Development  ·  branch Peemdech_6733804202_03</a:t>
            </a:r>
          </a:p>
        </p:txBody>
      </p:sp>
      <p:sp>
        <p:nvSpPr>
          <p:cNvPr id="5" name="Oval 4"/>
          <p:cNvSpPr/>
          <p:nvPr/>
        </p:nvSpPr>
        <p:spPr>
          <a:xfrm>
            <a:off x="731520" y="4937760"/>
            <a:ext cx="1097280" cy="1097280"/>
          </a:xfrm>
          <a:prstGeom prst="ellipse">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600" b="1" i="0" lang="th-TH">
                <a:solidFill>
                  <a:srgbClr val="FFFFFF"/>
                </a:solidFill>
                <a:latin typeface="Tahoma"/>
                <a:ea typeface="Tahoma"/>
                <a:cs typeface="Tahoma"/>
              </a:rPr>
              <a:t>Pay</a:t>
            </a:r>
          </a:p>
        </p:txBody>
      </p:sp>
      <p:sp>
        <p:nvSpPr>
          <p:cNvPr id="6" name="Oval 5"/>
          <p:cNvSpPr/>
          <p:nvPr/>
        </p:nvSpPr>
        <p:spPr>
          <a:xfrm>
            <a:off x="2103120" y="4937760"/>
            <a:ext cx="1097280" cy="1097280"/>
          </a:xfrm>
          <a:prstGeom prst="ellipse">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600" b="1" i="0" lang="th-TH">
                <a:solidFill>
                  <a:srgbClr val="FFFFFF"/>
                </a:solidFill>
                <a:latin typeface="Tahoma"/>
                <a:ea typeface="Tahoma"/>
                <a:cs typeface="Tahoma"/>
              </a:rPr>
              <a:t>Notify</a:t>
            </a:r>
          </a:p>
        </p:txBody>
      </p:sp>
      <p:sp>
        <p:nvSpPr>
          <p:cNvPr id="7" name="Oval 6"/>
          <p:cNvSpPr/>
          <p:nvPr/>
        </p:nvSpPr>
        <p:spPr>
          <a:xfrm>
            <a:off x="3474720" y="4937760"/>
            <a:ext cx="1097280" cy="1097280"/>
          </a:xfrm>
          <a:prstGeom prst="ellipse">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600" b="1" i="0" lang="th-TH">
                <a:solidFill>
                  <a:srgbClr val="FFFFFF"/>
                </a:solidFill>
                <a:latin typeface="Tahoma"/>
                <a:ea typeface="Tahoma"/>
                <a:cs typeface="Tahoma"/>
              </a:rPr>
              <a:t>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ส่วนที่ฉันรับผิดชอบ</a:t>
            </a:r>
          </a:p>
        </p:txBody>
      </p:sp>
      <p:sp>
        <p:nvSpPr>
          <p:cNvPr id="3" name="Rounded Rectangle 2"/>
          <p:cNvSpPr/>
          <p:nvPr/>
        </p:nvSpPr>
        <p:spPr>
          <a:xfrm>
            <a:off x="548640" y="1371600"/>
            <a:ext cx="3474720" cy="32004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08760"/>
            <a:ext cx="3108960" cy="2926080"/>
          </a:xfrm>
          <a:prstGeom prst="rect">
            <a:avLst/>
          </a:prstGeom>
          <a:noFill/>
        </p:spPr>
        <p:txBody>
          <a:bodyPr wrap="square" lIns="45720" rIns="45720" tIns="27432" bIns="27432" anchor="t">
            <a:spAutoFit/>
          </a:bodyPr>
          <a:lstStyle/>
          <a:p>
            <a:pPr algn="l">
              <a:spcAft>
                <a:spcPts val="800"/>
              </a:spcAft>
            </a:pPr>
            <a:r>
              <a:rPr sz="2200" b="1" i="0" lang="th-TH">
                <a:solidFill>
                  <a:srgbClr val="139A8E"/>
                </a:solidFill>
                <a:latin typeface="Tahoma"/>
                <a:ea typeface="Tahoma"/>
                <a:cs typeface="Tahoma"/>
              </a:rPr>
              <a:t>Payment</a:t>
            </a:r>
          </a:p>
          <a:p>
            <a:pPr algn="l">
              <a:spcAft>
                <a:spcPts val="600"/>
              </a:spcAft>
            </a:pPr>
            <a:r>
              <a:rPr sz="1400" b="0" i="0" lang="th-TH">
                <a:solidFill>
                  <a:srgbClr val="1B2B3A"/>
                </a:solidFill>
                <a:latin typeface="Tahoma"/>
                <a:ea typeface="Tahoma"/>
                <a:cs typeface="Tahoma"/>
              </a:rPr>
              <a:t>•  วิธีชำระ Cash / QR / Coin
(Strategy + Factory)</a:t>
            </a:r>
          </a:p>
          <a:p>
            <a:pPr algn="l">
              <a:spcAft>
                <a:spcPts val="600"/>
              </a:spcAft>
            </a:pPr>
            <a:r>
              <a:rPr sz="1400" b="0" i="0" lang="th-TH">
                <a:solidFill>
                  <a:srgbClr val="1B2B3A"/>
                </a:solidFill>
                <a:latin typeface="Tahoma"/>
                <a:ea typeface="Tahoma"/>
                <a:cs typeface="Tahoma"/>
              </a:rPr>
              <a:t>•  CheckoutFacade ประสานขั้นตอน</a:t>
            </a:r>
          </a:p>
          <a:p>
            <a:pPr algn="l">
              <a:spcAft>
                <a:spcPts val="600"/>
              </a:spcAft>
            </a:pPr>
            <a:r>
              <a:rPr sz="1400" b="0" i="0" lang="th-TH">
                <a:solidFill>
                  <a:srgbClr val="1B2B3A"/>
                </a:solidFill>
                <a:latin typeface="Tahoma"/>
                <a:ea typeface="Tahoma"/>
                <a:cs typeface="Tahoma"/>
              </a:rPr>
              <a:t>•  REST API 4 endpoint + หน้าเว็บ</a:t>
            </a:r>
          </a:p>
        </p:txBody>
      </p:sp>
      <p:sp>
        <p:nvSpPr>
          <p:cNvPr id="5" name="Rounded Rectangle 4"/>
          <p:cNvSpPr/>
          <p:nvPr/>
        </p:nvSpPr>
        <p:spPr>
          <a:xfrm>
            <a:off x="4297679" y="1371600"/>
            <a:ext cx="3474720" cy="32004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59" y="1508760"/>
            <a:ext cx="3108960" cy="2926080"/>
          </a:xfrm>
          <a:prstGeom prst="rect">
            <a:avLst/>
          </a:prstGeom>
          <a:noFill/>
        </p:spPr>
        <p:txBody>
          <a:bodyPr wrap="square" lIns="45720" rIns="45720" tIns="27432" bIns="27432" anchor="t">
            <a:spAutoFit/>
          </a:bodyPr>
          <a:lstStyle/>
          <a:p>
            <a:pPr algn="l">
              <a:spcAft>
                <a:spcPts val="800"/>
              </a:spcAft>
            </a:pPr>
            <a:r>
              <a:rPr sz="2200" b="1" i="0" lang="th-TH">
                <a:solidFill>
                  <a:srgbClr val="139A8E"/>
                </a:solidFill>
                <a:latin typeface="Tahoma"/>
                <a:ea typeface="Tahoma"/>
                <a:cs typeface="Tahoma"/>
              </a:rPr>
              <a:t>Notification</a:t>
            </a:r>
          </a:p>
          <a:p>
            <a:pPr algn="l">
              <a:spcAft>
                <a:spcPts val="600"/>
              </a:spcAft>
            </a:pPr>
            <a:r>
              <a:rPr sz="1400" b="0" i="0" lang="th-TH">
                <a:solidFill>
                  <a:srgbClr val="1B2B3A"/>
                </a:solidFill>
                <a:latin typeface="Tahoma"/>
                <a:ea typeface="Tahoma"/>
                <a:cs typeface="Tahoma"/>
              </a:rPr>
              <a:t>•  Observer ฟัง event ของโมดูลอื่น</a:t>
            </a:r>
          </a:p>
          <a:p>
            <a:pPr algn="l">
              <a:spcAft>
                <a:spcPts val="600"/>
              </a:spcAft>
            </a:pPr>
            <a:r>
              <a:rPr sz="1400" b="0" i="0" lang="th-TH">
                <a:solidFill>
                  <a:srgbClr val="1B2B3A"/>
                </a:solidFill>
                <a:latin typeface="Tahoma"/>
                <a:ea typeface="Tahoma"/>
                <a:cs typeface="Tahoma"/>
              </a:rPr>
              <a:t>•  แจ้งเตือนในระบบ + mark read</a:t>
            </a:r>
          </a:p>
          <a:p>
            <a:pPr algn="l">
              <a:spcAft>
                <a:spcPts val="600"/>
              </a:spcAft>
            </a:pPr>
            <a:r>
              <a:rPr sz="1400" b="0" i="0" lang="th-TH">
                <a:solidFill>
                  <a:srgbClr val="1B2B3A"/>
                </a:solidFill>
                <a:latin typeface="Tahoma"/>
                <a:ea typeface="Tahoma"/>
                <a:cs typeface="Tahoma"/>
              </a:rPr>
              <a:t>•  REST API + หน้าเว็บแจ้งเตือน</a:t>
            </a:r>
          </a:p>
        </p:txBody>
      </p:sp>
      <p:sp>
        <p:nvSpPr>
          <p:cNvPr id="7" name="Rounded Rectangle 6"/>
          <p:cNvSpPr/>
          <p:nvPr/>
        </p:nvSpPr>
        <p:spPr>
          <a:xfrm>
            <a:off x="8046719" y="1371600"/>
            <a:ext cx="3474720" cy="32004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9" y="1508760"/>
            <a:ext cx="3108960" cy="2926080"/>
          </a:xfrm>
          <a:prstGeom prst="rect">
            <a:avLst/>
          </a:prstGeom>
          <a:noFill/>
        </p:spPr>
        <p:txBody>
          <a:bodyPr wrap="square" lIns="45720" rIns="45720" tIns="27432" bIns="27432" anchor="t">
            <a:spAutoFit/>
          </a:bodyPr>
          <a:lstStyle/>
          <a:p>
            <a:pPr algn="l">
              <a:spcAft>
                <a:spcPts val="800"/>
              </a:spcAft>
            </a:pPr>
            <a:r>
              <a:rPr sz="2200" b="1" i="0" lang="th-TH">
                <a:solidFill>
                  <a:srgbClr val="139A8E"/>
                </a:solidFill>
                <a:latin typeface="Tahoma"/>
                <a:ea typeface="Tahoma"/>
                <a:cs typeface="Tahoma"/>
              </a:rPr>
              <a:t>API Quality</a:t>
            </a:r>
          </a:p>
          <a:p>
            <a:pPr algn="l">
              <a:spcAft>
                <a:spcPts val="600"/>
              </a:spcAft>
            </a:pPr>
            <a:r>
              <a:rPr sz="1400" b="0" i="0" lang="th-TH">
                <a:solidFill>
                  <a:srgbClr val="1B2B3A"/>
                </a:solidFill>
                <a:latin typeface="Tahoma"/>
                <a:ea typeface="Tahoma"/>
                <a:cs typeface="Tahoma"/>
              </a:rPr>
              <a:t>•  GlobalExceptionHandler</a:t>
            </a:r>
          </a:p>
          <a:p>
            <a:pPr algn="l">
              <a:spcAft>
                <a:spcPts val="600"/>
              </a:spcAft>
            </a:pPr>
            <a:r>
              <a:rPr sz="1400" b="0" i="0" lang="th-TH">
                <a:solidFill>
                  <a:srgbClr val="1B2B3A"/>
                </a:solidFill>
                <a:latin typeface="Tahoma"/>
                <a:ea typeface="Tahoma"/>
                <a:cs typeface="Tahoma"/>
              </a:rPr>
              <a:t>•  ApiErrorResponse รูปแบบเดียว</a:t>
            </a:r>
          </a:p>
          <a:p>
            <a:pPr algn="l">
              <a:spcAft>
                <a:spcPts val="600"/>
              </a:spcAft>
            </a:pPr>
            <a:r>
              <a:rPr sz="1400" b="0" i="0" lang="th-TH">
                <a:solidFill>
                  <a:srgbClr val="1B2B3A"/>
                </a:solidFill>
                <a:latin typeface="Tahoma"/>
                <a:ea typeface="Tahoma"/>
                <a:cs typeface="Tahoma"/>
              </a:rPr>
              <a:t>•  Swagger UI + Basic Auth</a:t>
            </a:r>
          </a:p>
        </p:txBody>
      </p:sp>
      <p:sp>
        <p:nvSpPr>
          <p:cNvPr id="9" name="Rounded Rectangle 8"/>
          <p:cNvSpPr/>
          <p:nvPr/>
        </p:nvSpPr>
        <p:spPr>
          <a:xfrm>
            <a:off x="548640" y="4846320"/>
            <a:ext cx="3474720" cy="137160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919472"/>
            <a:ext cx="1188720" cy="1188720"/>
          </a:xfrm>
          <a:prstGeom prst="rect">
            <a:avLst/>
          </a:prstGeom>
          <a:noFill/>
        </p:spPr>
        <p:txBody>
          <a:bodyPr wrap="square" lIns="45720" rIns="45720" tIns="27432" bIns="27432" anchor="ctr">
            <a:spAutoFit/>
          </a:bodyPr>
          <a:lstStyle/>
          <a:p>
            <a:pPr algn="l">
              <a:spcAft>
                <a:spcPts val="0"/>
              </a:spcAft>
            </a:pPr>
            <a:r>
              <a:rPr sz="4000" b="1" i="0" lang="th-TH">
                <a:solidFill>
                  <a:srgbClr val="FFFFFF"/>
                </a:solidFill>
                <a:latin typeface="Tahoma"/>
                <a:ea typeface="Tahoma"/>
                <a:cs typeface="Tahoma"/>
              </a:rPr>
              <a:t>102</a:t>
            </a:r>
          </a:p>
        </p:txBody>
      </p:sp>
      <p:sp>
        <p:nvSpPr>
          <p:cNvPr id="11" name="TextBox 10"/>
          <p:cNvSpPr txBox="1"/>
          <p:nvPr/>
        </p:nvSpPr>
        <p:spPr>
          <a:xfrm>
            <a:off x="1965960" y="4919472"/>
            <a:ext cx="1965960" cy="1188720"/>
          </a:xfrm>
          <a:prstGeom prst="rect">
            <a:avLst/>
          </a:prstGeom>
          <a:noFill/>
        </p:spPr>
        <p:txBody>
          <a:bodyPr wrap="square" lIns="45720" rIns="45720" tIns="27432" bIns="27432" anchor="ctr">
            <a:spAutoFit/>
          </a:bodyPr>
          <a:lstStyle/>
          <a:p>
            <a:pPr algn="l">
              <a:spcAft>
                <a:spcPts val="0"/>
              </a:spcAft>
            </a:pPr>
            <a:r>
              <a:rPr sz="1400" b="0" i="0" lang="th-TH">
                <a:solidFill>
                  <a:srgbClr val="B8D8D4"/>
                </a:solidFill>
                <a:latin typeface="Tahoma"/>
                <a:ea typeface="Tahoma"/>
                <a:cs typeface="Tahoma"/>
              </a:rPr>
              <a:t>unit test ของโมดูลนี้
ผ่านทั้งหมด</a:t>
            </a:r>
          </a:p>
        </p:txBody>
      </p:sp>
      <p:sp>
        <p:nvSpPr>
          <p:cNvPr id="12" name="Rounded Rectangle 11"/>
          <p:cNvSpPr/>
          <p:nvPr/>
        </p:nvSpPr>
        <p:spPr>
          <a:xfrm>
            <a:off x="4297679" y="4846320"/>
            <a:ext cx="3474720" cy="137160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4919472"/>
            <a:ext cx="1188720" cy="1188720"/>
          </a:xfrm>
          <a:prstGeom prst="rect">
            <a:avLst/>
          </a:prstGeom>
          <a:noFill/>
        </p:spPr>
        <p:txBody>
          <a:bodyPr wrap="square" lIns="45720" rIns="45720" tIns="27432" bIns="27432" anchor="ctr">
            <a:spAutoFit/>
          </a:bodyPr>
          <a:lstStyle/>
          <a:p>
            <a:pPr algn="l">
              <a:spcAft>
                <a:spcPts val="0"/>
              </a:spcAft>
            </a:pPr>
            <a:r>
              <a:rPr sz="4000" b="1" i="0" lang="th-TH">
                <a:solidFill>
                  <a:srgbClr val="FFFFFF"/>
                </a:solidFill>
                <a:latin typeface="Tahoma"/>
                <a:ea typeface="Tahoma"/>
                <a:cs typeface="Tahoma"/>
              </a:rPr>
              <a:t>13</a:t>
            </a:r>
          </a:p>
        </p:txBody>
      </p:sp>
      <p:sp>
        <p:nvSpPr>
          <p:cNvPr id="14" name="TextBox 13"/>
          <p:cNvSpPr txBox="1"/>
          <p:nvPr/>
        </p:nvSpPr>
        <p:spPr>
          <a:xfrm>
            <a:off x="5714999" y="4919472"/>
            <a:ext cx="1965960" cy="1188720"/>
          </a:xfrm>
          <a:prstGeom prst="rect">
            <a:avLst/>
          </a:prstGeom>
          <a:noFill/>
        </p:spPr>
        <p:txBody>
          <a:bodyPr wrap="square" lIns="45720" rIns="45720" tIns="27432" bIns="27432" anchor="ctr">
            <a:spAutoFit/>
          </a:bodyPr>
          <a:lstStyle/>
          <a:p>
            <a:pPr algn="l">
              <a:spcAft>
                <a:spcPts val="0"/>
              </a:spcAft>
            </a:pPr>
            <a:r>
              <a:rPr sz="1400" b="0" i="0" lang="th-TH">
                <a:solidFill>
                  <a:srgbClr val="B8D8D4"/>
                </a:solidFill>
                <a:latin typeface="Tahoma"/>
                <a:ea typeface="Tahoma"/>
                <a:cs typeface="Tahoma"/>
              </a:rPr>
              <a:t>เทสต์ constraint
กับ PostgreSQL จริง</a:t>
            </a:r>
          </a:p>
        </p:txBody>
      </p:sp>
      <p:sp>
        <p:nvSpPr>
          <p:cNvPr id="15" name="Rounded Rectangle 14"/>
          <p:cNvSpPr/>
          <p:nvPr/>
        </p:nvSpPr>
        <p:spPr>
          <a:xfrm>
            <a:off x="8046719" y="4846320"/>
            <a:ext cx="3474720" cy="137160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4919472"/>
            <a:ext cx="1188720" cy="1188720"/>
          </a:xfrm>
          <a:prstGeom prst="rect">
            <a:avLst/>
          </a:prstGeom>
          <a:noFill/>
        </p:spPr>
        <p:txBody>
          <a:bodyPr wrap="square" lIns="45720" rIns="45720" tIns="27432" bIns="27432" anchor="ctr">
            <a:spAutoFit/>
          </a:bodyPr>
          <a:lstStyle/>
          <a:p>
            <a:pPr algn="l">
              <a:spcAft>
                <a:spcPts val="0"/>
              </a:spcAft>
            </a:pPr>
            <a:r>
              <a:rPr sz="4000" b="1" i="0" lang="th-TH">
                <a:solidFill>
                  <a:srgbClr val="FFFFFF"/>
                </a:solidFill>
                <a:latin typeface="Tahoma"/>
                <a:ea typeface="Tahoma"/>
                <a:cs typeface="Tahoma"/>
              </a:rPr>
              <a:t>22</a:t>
            </a:r>
          </a:p>
        </p:txBody>
      </p:sp>
      <p:sp>
        <p:nvSpPr>
          <p:cNvPr id="17" name="TextBox 16"/>
          <p:cNvSpPr txBox="1"/>
          <p:nvPr/>
        </p:nvSpPr>
        <p:spPr>
          <a:xfrm>
            <a:off x="9464040" y="4919472"/>
            <a:ext cx="1965960" cy="1188720"/>
          </a:xfrm>
          <a:prstGeom prst="rect">
            <a:avLst/>
          </a:prstGeom>
          <a:noFill/>
        </p:spPr>
        <p:txBody>
          <a:bodyPr wrap="square" lIns="45720" rIns="45720" tIns="27432" bIns="27432" anchor="ctr">
            <a:spAutoFit/>
          </a:bodyPr>
          <a:lstStyle/>
          <a:p>
            <a:pPr algn="l">
              <a:spcAft>
                <a:spcPts val="0"/>
              </a:spcAft>
            </a:pPr>
            <a:r>
              <a:rPr sz="1400" b="0" i="0" lang="th-TH">
                <a:solidFill>
                  <a:srgbClr val="B8D8D4"/>
                </a:solidFill>
                <a:latin typeface="Tahoma"/>
                <a:ea typeface="Tahoma"/>
                <a:cs typeface="Tahoma"/>
              </a:rPr>
              <a:t>กรณีทดสอบจริงบนแอป
(curl / Swagger)</a:t>
            </a:r>
          </a:p>
        </p:txBody>
      </p:sp>
      <p:sp>
        <p:nvSpPr>
          <p:cNvPr id="18"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Checkout: จากคำขอถึงแจ้งเตือน</a:t>
            </a:r>
          </a:p>
        </p:txBody>
      </p:sp>
      <p:sp>
        <p:nvSpPr>
          <p:cNvPr id="3" name="Rounded Rectangle 2"/>
          <p:cNvSpPr/>
          <p:nvPr/>
        </p:nvSpPr>
        <p:spPr>
          <a:xfrm>
            <a:off x="548640" y="1463040"/>
            <a:ext cx="3108960" cy="1874519"/>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72768"/>
            <a:ext cx="2880360" cy="640080"/>
          </a:xfrm>
          <a:prstGeom prst="rect">
            <a:avLst/>
          </a:prstGeom>
          <a:noFill/>
        </p:spPr>
        <p:txBody>
          <a:bodyPr wrap="square" lIns="45720" rIns="45720" tIns="27432" bIns="27432" anchor="t">
            <a:spAutoFit/>
          </a:bodyPr>
          <a:lstStyle/>
          <a:p>
            <a:pPr algn="l">
              <a:spcAft>
                <a:spcPts val="0"/>
              </a:spcAft>
            </a:pPr>
            <a:r>
              <a:rPr sz="1500" b="1" i="0" lang="th-TH">
                <a:solidFill>
                  <a:srgbClr val="139A8E"/>
                </a:solidFill>
                <a:latin typeface="Tahoma"/>
                <a:ea typeface="Tahoma"/>
                <a:cs typeface="Tahoma"/>
              </a:rPr>
              <a:t>1 · PaymentApiController</a:t>
            </a:r>
          </a:p>
        </p:txBody>
      </p:sp>
      <p:sp>
        <p:nvSpPr>
          <p:cNvPr id="5" name="TextBox 4"/>
          <p:cNvSpPr txBox="1"/>
          <p:nvPr/>
        </p:nvSpPr>
        <p:spPr>
          <a:xfrm>
            <a:off x="685800" y="2240280"/>
            <a:ext cx="2880360" cy="10058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รับ CheckoutRequest
(ไม่มีฟิลด์ amount)</a:t>
            </a:r>
          </a:p>
        </p:txBody>
      </p:sp>
      <p:sp>
        <p:nvSpPr>
          <p:cNvPr id="6" name="Right Arrow 5"/>
          <p:cNvSpPr/>
          <p:nvPr/>
        </p:nvSpPr>
        <p:spPr>
          <a:xfrm>
            <a:off x="3685032" y="2212848"/>
            <a:ext cx="566928" cy="365760"/>
          </a:xfrm>
          <a:prstGeom prst="rightArrow">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97679" y="1463040"/>
            <a:ext cx="3108960" cy="1874519"/>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572768"/>
            <a:ext cx="2880360" cy="640080"/>
          </a:xfrm>
          <a:prstGeom prst="rect">
            <a:avLst/>
          </a:prstGeom>
          <a:noFill/>
        </p:spPr>
        <p:txBody>
          <a:bodyPr wrap="square" lIns="45720" rIns="45720" tIns="27432" bIns="27432" anchor="t">
            <a:spAutoFit/>
          </a:bodyPr>
          <a:lstStyle/>
          <a:p>
            <a:pPr algn="l">
              <a:spcAft>
                <a:spcPts val="0"/>
              </a:spcAft>
            </a:pPr>
            <a:r>
              <a:rPr sz="1500" b="1" i="0" lang="th-TH">
                <a:solidFill>
                  <a:srgbClr val="139A8E"/>
                </a:solidFill>
                <a:latin typeface="Tahoma"/>
                <a:ea typeface="Tahoma"/>
                <a:cs typeface="Tahoma"/>
              </a:rPr>
              <a:t>2 · CheckoutFacade</a:t>
            </a:r>
          </a:p>
        </p:txBody>
      </p:sp>
      <p:sp>
        <p:nvSpPr>
          <p:cNvPr id="9" name="TextBox 8"/>
          <p:cNvSpPr txBox="1"/>
          <p:nvPr/>
        </p:nvSpPr>
        <p:spPr>
          <a:xfrm>
            <a:off x="4434840" y="2240280"/>
            <a:ext cx="2880360" cy="10058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หา payable → ตรวจเจ้าของ
ไม่ใช่ → 403</a:t>
            </a:r>
          </a:p>
        </p:txBody>
      </p:sp>
      <p:sp>
        <p:nvSpPr>
          <p:cNvPr id="10" name="Right Arrow 9"/>
          <p:cNvSpPr/>
          <p:nvPr/>
        </p:nvSpPr>
        <p:spPr>
          <a:xfrm>
            <a:off x="7434071" y="2212848"/>
            <a:ext cx="566928" cy="365760"/>
          </a:xfrm>
          <a:prstGeom prst="rightArrow">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19" y="1463040"/>
            <a:ext cx="3108960" cy="1874519"/>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572768"/>
            <a:ext cx="2880360" cy="640080"/>
          </a:xfrm>
          <a:prstGeom prst="rect">
            <a:avLst/>
          </a:prstGeom>
          <a:noFill/>
        </p:spPr>
        <p:txBody>
          <a:bodyPr wrap="square" lIns="45720" rIns="45720" tIns="27432" bIns="27432" anchor="t">
            <a:spAutoFit/>
          </a:bodyPr>
          <a:lstStyle/>
          <a:p>
            <a:pPr algn="l">
              <a:spcAft>
                <a:spcPts val="0"/>
              </a:spcAft>
            </a:pPr>
            <a:r>
              <a:rPr sz="1500" b="1" i="0" lang="th-TH">
                <a:solidFill>
                  <a:srgbClr val="139A8E"/>
                </a:solidFill>
                <a:latin typeface="Tahoma"/>
                <a:ea typeface="Tahoma"/>
                <a:cs typeface="Tahoma"/>
              </a:rPr>
              <a:t>3 · PayableProvider</a:t>
            </a:r>
          </a:p>
        </p:txBody>
      </p:sp>
      <p:sp>
        <p:nvSpPr>
          <p:cNvPr id="13" name="TextBox 12"/>
          <p:cNvSpPr txBox="1"/>
          <p:nvPr/>
        </p:nvSpPr>
        <p:spPr>
          <a:xfrm>
            <a:off x="8183879" y="2240280"/>
            <a:ext cx="2880360" cy="10058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ค้นหา Order / Session
ผ่าน interface (DIP)</a:t>
            </a:r>
          </a:p>
        </p:txBody>
      </p:sp>
      <p:sp>
        <p:nvSpPr>
          <p:cNvPr id="14" name="Rounded Rectangle 13"/>
          <p:cNvSpPr/>
          <p:nvPr/>
        </p:nvSpPr>
        <p:spPr>
          <a:xfrm>
            <a:off x="548640" y="3703320"/>
            <a:ext cx="3108960" cy="1874519"/>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13048"/>
            <a:ext cx="2880360" cy="640080"/>
          </a:xfrm>
          <a:prstGeom prst="rect">
            <a:avLst/>
          </a:prstGeom>
          <a:noFill/>
        </p:spPr>
        <p:txBody>
          <a:bodyPr wrap="square" lIns="45720" rIns="45720" tIns="27432" bIns="27432" anchor="t">
            <a:spAutoFit/>
          </a:bodyPr>
          <a:lstStyle/>
          <a:p>
            <a:pPr algn="l">
              <a:spcAft>
                <a:spcPts val="0"/>
              </a:spcAft>
            </a:pPr>
            <a:r>
              <a:rPr sz="1500" b="1" i="0" lang="th-TH">
                <a:solidFill>
                  <a:srgbClr val="139A8E"/>
                </a:solidFill>
                <a:latin typeface="Tahoma"/>
                <a:ea typeface="Tahoma"/>
                <a:cs typeface="Tahoma"/>
              </a:rPr>
              <a:t>4 · PaymentService</a:t>
            </a:r>
          </a:p>
        </p:txBody>
      </p:sp>
      <p:sp>
        <p:nvSpPr>
          <p:cNvPr id="16" name="TextBox 15"/>
          <p:cNvSpPr txBox="1"/>
          <p:nvPr/>
        </p:nvSpPr>
        <p:spPr>
          <a:xfrm>
            <a:off x="685800" y="4480560"/>
            <a:ext cx="2880360" cy="10058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กันจ่ายซ้ำ → 409
ยอดมาจาก Payable</a:t>
            </a:r>
          </a:p>
        </p:txBody>
      </p:sp>
      <p:sp>
        <p:nvSpPr>
          <p:cNvPr id="17" name="Right Arrow 16"/>
          <p:cNvSpPr/>
          <p:nvPr/>
        </p:nvSpPr>
        <p:spPr>
          <a:xfrm>
            <a:off x="3685032" y="4453128"/>
            <a:ext cx="566928" cy="365760"/>
          </a:xfrm>
          <a:prstGeom prst="rightArrow">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97679" y="3703320"/>
            <a:ext cx="3108960" cy="1874519"/>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813048"/>
            <a:ext cx="2880360" cy="640080"/>
          </a:xfrm>
          <a:prstGeom prst="rect">
            <a:avLst/>
          </a:prstGeom>
          <a:noFill/>
        </p:spPr>
        <p:txBody>
          <a:bodyPr wrap="square" lIns="45720" rIns="45720" tIns="27432" bIns="27432" anchor="t">
            <a:spAutoFit/>
          </a:bodyPr>
          <a:lstStyle/>
          <a:p>
            <a:pPr algn="l">
              <a:spcAft>
                <a:spcPts val="0"/>
              </a:spcAft>
            </a:pPr>
            <a:r>
              <a:rPr sz="1500" b="1" i="0" lang="th-TH">
                <a:solidFill>
                  <a:srgbClr val="139A8E"/>
                </a:solidFill>
                <a:latin typeface="Tahoma"/>
                <a:ea typeface="Tahoma"/>
                <a:cs typeface="Tahoma"/>
              </a:rPr>
              <a:t>5 · Factory → Processor</a:t>
            </a:r>
          </a:p>
        </p:txBody>
      </p:sp>
      <p:sp>
        <p:nvSpPr>
          <p:cNvPr id="20" name="TextBox 19"/>
          <p:cNvSpPr txBox="1"/>
          <p:nvPr/>
        </p:nvSpPr>
        <p:spPr>
          <a:xfrm>
            <a:off x="4434840" y="4480560"/>
            <a:ext cx="2880360" cy="10058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Cash = PENDING
QR / Coin = PAID</a:t>
            </a:r>
          </a:p>
        </p:txBody>
      </p:sp>
      <p:sp>
        <p:nvSpPr>
          <p:cNvPr id="21" name="Right Arrow 20"/>
          <p:cNvSpPr/>
          <p:nvPr/>
        </p:nvSpPr>
        <p:spPr>
          <a:xfrm>
            <a:off x="7434071" y="4453128"/>
            <a:ext cx="566928" cy="365760"/>
          </a:xfrm>
          <a:prstGeom prst="rightArrow">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19" y="3703320"/>
            <a:ext cx="3108960" cy="1874519"/>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3879" y="3813048"/>
            <a:ext cx="2880360" cy="640080"/>
          </a:xfrm>
          <a:prstGeom prst="rect">
            <a:avLst/>
          </a:prstGeom>
          <a:noFill/>
        </p:spPr>
        <p:txBody>
          <a:bodyPr wrap="square" lIns="45720" rIns="45720" tIns="27432" bIns="27432" anchor="t">
            <a:spAutoFit/>
          </a:bodyPr>
          <a:lstStyle/>
          <a:p>
            <a:pPr algn="l">
              <a:spcAft>
                <a:spcPts val="0"/>
              </a:spcAft>
            </a:pPr>
            <a:r>
              <a:rPr sz="1500" b="1" i="0" lang="th-TH">
                <a:solidFill>
                  <a:srgbClr val="FFFFFF"/>
                </a:solidFill>
                <a:latin typeface="Tahoma"/>
                <a:ea typeface="Tahoma"/>
                <a:cs typeface="Tahoma"/>
              </a:rPr>
              <a:t>6 · Event → Notification</a:t>
            </a:r>
          </a:p>
        </p:txBody>
      </p:sp>
      <p:sp>
        <p:nvSpPr>
          <p:cNvPr id="24" name="TextBox 23"/>
          <p:cNvSpPr txBox="1"/>
          <p:nvPr/>
        </p:nvSpPr>
        <p:spPr>
          <a:xfrm>
            <a:off x="8183879" y="4480560"/>
            <a:ext cx="2880360" cy="1005840"/>
          </a:xfrm>
          <a:prstGeom prst="rect">
            <a:avLst/>
          </a:prstGeom>
          <a:noFill/>
        </p:spPr>
        <p:txBody>
          <a:bodyPr wrap="square" lIns="45720" rIns="45720" tIns="27432" bIns="27432" anchor="t">
            <a:spAutoFit/>
          </a:bodyPr>
          <a:lstStyle/>
          <a:p>
            <a:pPr algn="l">
              <a:spcAft>
                <a:spcPts val="0"/>
              </a:spcAft>
            </a:pPr>
            <a:r>
              <a:rPr sz="1400" b="0" i="0" lang="th-TH">
                <a:solidFill>
                  <a:srgbClr val="B8D8D4"/>
                </a:solidFill>
                <a:latin typeface="Tahoma"/>
                <a:ea typeface="Tahoma"/>
                <a:cs typeface="Tahoma"/>
              </a:rPr>
              <a:t>ถ้า PAID ยิง event
แจ้งเตือนเจ้าของ</a:t>
            </a:r>
          </a:p>
        </p:txBody>
      </p:sp>
      <p:sp>
        <p:nvSpPr>
          <p:cNvPr id="25" name="TextBox 24"/>
          <p:cNvSpPr txBox="1"/>
          <p:nvPr/>
        </p:nvSpPr>
        <p:spPr>
          <a:xfrm>
            <a:off x="548640" y="5989320"/>
            <a:ext cx="10058400" cy="411480"/>
          </a:xfrm>
          <a:prstGeom prst="rect">
            <a:avLst/>
          </a:prstGeom>
          <a:noFill/>
        </p:spPr>
        <p:txBody>
          <a:bodyPr wrap="square" lIns="45720" rIns="45720" tIns="27432" bIns="27432" anchor="t">
            <a:spAutoFit/>
          </a:bodyPr>
          <a:lstStyle/>
          <a:p>
            <a:pPr algn="l">
              <a:spcAft>
                <a:spcPts val="0"/>
              </a:spcAft>
            </a:pPr>
            <a:r>
              <a:rPr sz="1400" b="0" i="0" lang="th-TH">
                <a:solidFill>
                  <a:srgbClr val="5B6B7A"/>
                </a:solidFill>
                <a:latin typeface="Tahoma"/>
                <a:ea typeface="Tahoma"/>
                <a:cs typeface="Tahoma"/>
              </a:rPr>
              <a:t>Controller ไม่แตะ Repository และไม่คืน Entity ตรงๆ (DTO + Mapper)</a:t>
            </a:r>
          </a:p>
        </p:txBody>
      </p:sp>
      <p:sp>
        <p:nvSpPr>
          <p:cNvPr id="26"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Pattern ที่ใช้ และเหตุผล</a:t>
            </a:r>
          </a:p>
        </p:txBody>
      </p:sp>
      <p:sp>
        <p:nvSpPr>
          <p:cNvPr id="3" name="Rounded Rectangle 2"/>
          <p:cNvSpPr/>
          <p:nvPr/>
        </p:nvSpPr>
        <p:spPr>
          <a:xfrm>
            <a:off x="548640" y="1371600"/>
            <a:ext cx="3474720" cy="443484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81328"/>
            <a:ext cx="3108960" cy="4206240"/>
          </a:xfrm>
          <a:prstGeom prst="rect">
            <a:avLst/>
          </a:prstGeom>
          <a:noFill/>
        </p:spPr>
        <p:txBody>
          <a:bodyPr wrap="square" lIns="45720" rIns="45720" tIns="27432" bIns="27432" anchor="t">
            <a:spAutoFit/>
          </a:bodyPr>
          <a:lstStyle/>
          <a:p>
            <a:pPr algn="l">
              <a:spcAft>
                <a:spcPts val="800"/>
              </a:spcAft>
            </a:pPr>
            <a:r>
              <a:rPr sz="2000" b="1" i="0" lang="th-TH">
                <a:solidFill>
                  <a:srgbClr val="139A8E"/>
                </a:solidFill>
                <a:latin typeface="Tahoma"/>
                <a:ea typeface="Tahoma"/>
                <a:cs typeface="Tahoma"/>
              </a:rPr>
              <a:t>Strategy + Factory</a:t>
            </a:r>
          </a:p>
          <a:p>
            <a:pPr algn="l">
              <a:spcAft>
                <a:spcPts val="0"/>
              </a:spcAft>
            </a:pPr>
            <a:r>
              <a:rPr sz="1200" b="1" i="0" lang="th-TH">
                <a:solidFill>
                  <a:srgbClr val="5B6B7A"/>
                </a:solidFill>
                <a:latin typeface="Tahoma"/>
                <a:ea typeface="Tahoma"/>
                <a:cs typeface="Tahoma"/>
              </a:rPr>
              <a:t>ปัญหา</a:t>
            </a:r>
          </a:p>
          <a:p>
            <a:pPr algn="l">
              <a:spcAft>
                <a:spcPts val="800"/>
              </a:spcAft>
            </a:pPr>
            <a:r>
              <a:rPr sz="1400" b="0" i="0" lang="th-TH">
                <a:solidFill>
                  <a:srgbClr val="1B2B3A"/>
                </a:solidFill>
                <a:latin typeface="Tahoma"/>
                <a:ea typeface="Tahoma"/>
                <a:cs typeface="Tahoma"/>
              </a:rPr>
              <a:t>วิธีจ่ายหลายแบบ ต้อง if-else ทุกครั้งที่เพิ่ม</a:t>
            </a:r>
          </a:p>
          <a:p>
            <a:pPr algn="l">
              <a:spcAft>
                <a:spcPts val="0"/>
              </a:spcAft>
            </a:pPr>
            <a:r>
              <a:rPr sz="1200" b="1" i="0" lang="th-TH">
                <a:solidFill>
                  <a:srgbClr val="5B6B7A"/>
                </a:solidFill>
                <a:latin typeface="Tahoma"/>
                <a:ea typeface="Tahoma"/>
                <a:cs typeface="Tahoma"/>
              </a:rPr>
              <a:t>ทางแก้</a:t>
            </a:r>
          </a:p>
          <a:p>
            <a:pPr algn="l">
              <a:spcAft>
                <a:spcPts val="800"/>
              </a:spcAft>
            </a:pPr>
            <a:r>
              <a:rPr sz="1400" b="0" i="0" lang="th-TH">
                <a:solidFill>
                  <a:srgbClr val="1B2B3A"/>
                </a:solidFill>
                <a:latin typeface="Tahoma"/>
                <a:ea typeface="Tahoma"/>
                <a:cs typeface="Tahoma"/>
              </a:rPr>
              <a:t>PaymentProcessor + Factory รับ List ผ่าน constructor</a:t>
            </a:r>
          </a:p>
          <a:p>
            <a:pPr algn="l">
              <a:spcAft>
                <a:spcPts val="0"/>
              </a:spcAft>
            </a:pPr>
            <a:r>
              <a:rPr sz="1200" b="1" i="0" lang="th-TH">
                <a:solidFill>
                  <a:srgbClr val="5B6B7A"/>
                </a:solidFill>
                <a:latin typeface="Tahoma"/>
                <a:ea typeface="Tahoma"/>
                <a:cs typeface="Tahoma"/>
              </a:rPr>
              <a:t>ผลลัพธ์</a:t>
            </a:r>
          </a:p>
          <a:p>
            <a:pPr algn="l">
              <a:spcAft>
                <a:spcPts val="0"/>
              </a:spcAft>
            </a:pPr>
            <a:r>
              <a:rPr sz="1400" b="0" i="0" lang="th-TH">
                <a:solidFill>
                  <a:srgbClr val="1B2B3A"/>
                </a:solidFill>
                <a:latin typeface="Tahoma"/>
                <a:ea typeface="Tahoma"/>
                <a:cs typeface="Tahoma"/>
              </a:rPr>
              <a:t>เพิ่ม CoinProcessor คลาสเดียว ไม่แก้ Factory / Service (OCP)</a:t>
            </a:r>
          </a:p>
        </p:txBody>
      </p:sp>
      <p:sp>
        <p:nvSpPr>
          <p:cNvPr id="5" name="Rounded Rectangle 4"/>
          <p:cNvSpPr/>
          <p:nvPr/>
        </p:nvSpPr>
        <p:spPr>
          <a:xfrm>
            <a:off x="4297679" y="1371600"/>
            <a:ext cx="3474720" cy="443484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59" y="1481328"/>
            <a:ext cx="3108960" cy="4206240"/>
          </a:xfrm>
          <a:prstGeom prst="rect">
            <a:avLst/>
          </a:prstGeom>
          <a:noFill/>
        </p:spPr>
        <p:txBody>
          <a:bodyPr wrap="square" lIns="45720" rIns="45720" tIns="27432" bIns="27432" anchor="t">
            <a:spAutoFit/>
          </a:bodyPr>
          <a:lstStyle/>
          <a:p>
            <a:pPr algn="l">
              <a:spcAft>
                <a:spcPts val="800"/>
              </a:spcAft>
            </a:pPr>
            <a:r>
              <a:rPr sz="2000" b="1" i="0" lang="th-TH">
                <a:solidFill>
                  <a:srgbClr val="139A8E"/>
                </a:solidFill>
                <a:latin typeface="Tahoma"/>
                <a:ea typeface="Tahoma"/>
                <a:cs typeface="Tahoma"/>
              </a:rPr>
              <a:t>Facade</a:t>
            </a:r>
          </a:p>
          <a:p>
            <a:pPr algn="l">
              <a:spcAft>
                <a:spcPts val="0"/>
              </a:spcAft>
            </a:pPr>
            <a:r>
              <a:rPr sz="1200" b="1" i="0" lang="th-TH">
                <a:solidFill>
                  <a:srgbClr val="5B6B7A"/>
                </a:solidFill>
                <a:latin typeface="Tahoma"/>
                <a:ea typeface="Tahoma"/>
                <a:cs typeface="Tahoma"/>
              </a:rPr>
              <a:t>ปัญหา</a:t>
            </a:r>
          </a:p>
          <a:p>
            <a:pPr algn="l">
              <a:spcAft>
                <a:spcPts val="800"/>
              </a:spcAft>
            </a:pPr>
            <a:r>
              <a:rPr sz="1400" b="0" i="0" lang="th-TH">
                <a:solidFill>
                  <a:srgbClr val="1B2B3A"/>
                </a:solidFill>
                <a:latin typeface="Tahoma"/>
                <a:ea typeface="Tahoma"/>
                <a:cs typeface="Tahoma"/>
              </a:rPr>
              <a:t>Checkout มี 4 ขั้นตอนข้ามหลายโมดูล</a:t>
            </a:r>
          </a:p>
          <a:p>
            <a:pPr algn="l">
              <a:spcAft>
                <a:spcPts val="0"/>
              </a:spcAft>
            </a:pPr>
            <a:r>
              <a:rPr sz="1200" b="1" i="0" lang="th-TH">
                <a:solidFill>
                  <a:srgbClr val="5B6B7A"/>
                </a:solidFill>
                <a:latin typeface="Tahoma"/>
                <a:ea typeface="Tahoma"/>
                <a:cs typeface="Tahoma"/>
              </a:rPr>
              <a:t>ทางแก้</a:t>
            </a:r>
          </a:p>
          <a:p>
            <a:pPr algn="l">
              <a:spcAft>
                <a:spcPts val="800"/>
              </a:spcAft>
            </a:pPr>
            <a:r>
              <a:rPr sz="1400" b="0" i="0" lang="th-TH">
                <a:solidFill>
                  <a:srgbClr val="1B2B3A"/>
                </a:solidFill>
                <a:latin typeface="Tahoma"/>
                <a:ea typeface="Tahoma"/>
                <a:cs typeface="Tahoma"/>
              </a:rPr>
              <a:t>CheckoutFacade เป็นจุดเข้าเดียว</a:t>
            </a:r>
          </a:p>
          <a:p>
            <a:pPr algn="l">
              <a:spcAft>
                <a:spcPts val="0"/>
              </a:spcAft>
            </a:pPr>
            <a:r>
              <a:rPr sz="1200" b="1" i="0" lang="th-TH">
                <a:solidFill>
                  <a:srgbClr val="5B6B7A"/>
                </a:solidFill>
                <a:latin typeface="Tahoma"/>
                <a:ea typeface="Tahoma"/>
                <a:cs typeface="Tahoma"/>
              </a:rPr>
              <a:t>ผลลัพธ์</a:t>
            </a:r>
          </a:p>
          <a:p>
            <a:pPr algn="l">
              <a:spcAft>
                <a:spcPts val="0"/>
              </a:spcAft>
            </a:pPr>
            <a:r>
              <a:rPr sz="1400" b="0" i="0" lang="th-TH">
                <a:solidFill>
                  <a:srgbClr val="1B2B3A"/>
                </a:solidFill>
                <a:latin typeface="Tahoma"/>
                <a:ea typeface="Tahoma"/>
                <a:cs typeface="Tahoma"/>
              </a:rPr>
              <a:t>Controller เรียกเมธอดเดียว เพิ่มขั้นตอนใหม่แก้ที่เดียว</a:t>
            </a:r>
          </a:p>
        </p:txBody>
      </p:sp>
      <p:sp>
        <p:nvSpPr>
          <p:cNvPr id="7" name="Rounded Rectangle 6"/>
          <p:cNvSpPr/>
          <p:nvPr/>
        </p:nvSpPr>
        <p:spPr>
          <a:xfrm>
            <a:off x="8046719" y="1371600"/>
            <a:ext cx="3474720" cy="443484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9" y="1481328"/>
            <a:ext cx="3108960" cy="4206240"/>
          </a:xfrm>
          <a:prstGeom prst="rect">
            <a:avLst/>
          </a:prstGeom>
          <a:noFill/>
        </p:spPr>
        <p:txBody>
          <a:bodyPr wrap="square" lIns="45720" rIns="45720" tIns="27432" bIns="27432" anchor="t">
            <a:spAutoFit/>
          </a:bodyPr>
          <a:lstStyle/>
          <a:p>
            <a:pPr algn="l">
              <a:spcAft>
                <a:spcPts val="800"/>
              </a:spcAft>
            </a:pPr>
            <a:r>
              <a:rPr sz="2000" b="1" i="0" lang="th-TH">
                <a:solidFill>
                  <a:srgbClr val="139A8E"/>
                </a:solidFill>
                <a:latin typeface="Tahoma"/>
                <a:ea typeface="Tahoma"/>
                <a:cs typeface="Tahoma"/>
              </a:rPr>
              <a:t>Observer</a:t>
            </a:r>
          </a:p>
          <a:p>
            <a:pPr algn="l">
              <a:spcAft>
                <a:spcPts val="0"/>
              </a:spcAft>
            </a:pPr>
            <a:r>
              <a:rPr sz="1200" b="1" i="0" lang="th-TH">
                <a:solidFill>
                  <a:srgbClr val="5B6B7A"/>
                </a:solidFill>
                <a:latin typeface="Tahoma"/>
                <a:ea typeface="Tahoma"/>
                <a:cs typeface="Tahoma"/>
              </a:rPr>
              <a:t>ปัญหา</a:t>
            </a:r>
          </a:p>
          <a:p>
            <a:pPr algn="l">
              <a:spcAft>
                <a:spcPts val="800"/>
              </a:spcAft>
            </a:pPr>
            <a:r>
              <a:rPr sz="1400" b="0" i="0" lang="th-TH">
                <a:solidFill>
                  <a:srgbClr val="1B2B3A"/>
                </a:solidFill>
                <a:latin typeface="Tahoma"/>
                <a:ea typeface="Tahoma"/>
                <a:cs typeface="Tahoma"/>
              </a:rPr>
              <a:t>โมดูลอื่นไม่ควรรู้จักระบบแจ้งเตือน</a:t>
            </a:r>
          </a:p>
          <a:p>
            <a:pPr algn="l">
              <a:spcAft>
                <a:spcPts val="0"/>
              </a:spcAft>
            </a:pPr>
            <a:r>
              <a:rPr sz="1200" b="1" i="0" lang="th-TH">
                <a:solidFill>
                  <a:srgbClr val="5B6B7A"/>
                </a:solidFill>
                <a:latin typeface="Tahoma"/>
                <a:ea typeface="Tahoma"/>
                <a:cs typeface="Tahoma"/>
              </a:rPr>
              <a:t>ทางแก้</a:t>
            </a:r>
          </a:p>
          <a:p>
            <a:pPr algn="l">
              <a:spcAft>
                <a:spcPts val="800"/>
              </a:spcAft>
            </a:pPr>
            <a:r>
              <a:rPr sz="1400" b="0" i="0" lang="th-TH">
                <a:solidFill>
                  <a:srgbClr val="1B2B3A"/>
                </a:solidFill>
                <a:latin typeface="Tahoma"/>
                <a:ea typeface="Tahoma"/>
                <a:cs typeface="Tahoma"/>
              </a:rPr>
              <a:t>publishEvent + @EventListener</a:t>
            </a:r>
          </a:p>
          <a:p>
            <a:pPr algn="l">
              <a:spcAft>
                <a:spcPts val="0"/>
              </a:spcAft>
            </a:pPr>
            <a:r>
              <a:rPr sz="1200" b="1" i="0" lang="th-TH">
                <a:solidFill>
                  <a:srgbClr val="5B6B7A"/>
                </a:solidFill>
                <a:latin typeface="Tahoma"/>
                <a:ea typeface="Tahoma"/>
                <a:cs typeface="Tahoma"/>
              </a:rPr>
              <a:t>ผลลัพธ์</a:t>
            </a:r>
          </a:p>
          <a:p>
            <a:pPr algn="l">
              <a:spcAft>
                <a:spcPts val="0"/>
              </a:spcAft>
            </a:pPr>
            <a:r>
              <a:rPr sz="1400" b="0" i="0" lang="th-TH">
                <a:solidFill>
                  <a:srgbClr val="1B2B3A"/>
                </a:solidFill>
                <a:latin typeface="Tahoma"/>
                <a:ea typeface="Tahoma"/>
                <a:cs typeface="Tahoma"/>
              </a:rPr>
              <a:t>เพิ่มผู้ฟังโดยไม่แก้ผู้ยิง (sync เพื่อความสอดคล้องของข้อมูล)</a:t>
            </a:r>
          </a:p>
        </p:txBody>
      </p:sp>
      <p:sp>
        <p:nvSpPr>
          <p:cNvPr id="9" name="TextBox 8"/>
          <p:cNvSpPr txBox="1"/>
          <p:nvPr/>
        </p:nvSpPr>
        <p:spPr>
          <a:xfrm>
            <a:off x="548640" y="5943600"/>
            <a:ext cx="10058400" cy="411480"/>
          </a:xfrm>
          <a:prstGeom prst="rect">
            <a:avLst/>
          </a:prstGeom>
          <a:noFill/>
        </p:spPr>
        <p:txBody>
          <a:bodyPr wrap="square" lIns="45720" rIns="45720" tIns="27432" bIns="27432" anchor="t">
            <a:spAutoFit/>
          </a:bodyPr>
          <a:lstStyle/>
          <a:p>
            <a:pPr algn="l">
              <a:spcAft>
                <a:spcPts val="0"/>
              </a:spcAft>
            </a:pPr>
            <a:r>
              <a:rPr sz="1300" b="0" i="0" lang="th-TH">
                <a:solidFill>
                  <a:srgbClr val="5B6B7A"/>
                </a:solidFill>
                <a:latin typeface="Tahoma"/>
                <a:ea typeface="Tahoma"/>
                <a:cs typeface="Tahoma"/>
              </a:rPr>
              <a:t>หมายเหตุ: Factory เป็น Simple Factory แบบ registry ไม่ใช่ GoF Factory Method แท้</a:t>
            </a:r>
          </a:p>
        </p:txBody>
      </p:sp>
      <p:sp>
        <p:nvSpPr>
          <p:cNvPr id="10"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API Quality: error รูปแบบเดียวทั้งระบบ</a:t>
            </a:r>
          </a:p>
        </p:txBody>
      </p:sp>
      <p:graphicFrame>
        <p:nvGraphicFramePr>
          <p:cNvPr id="3" name="Table 2"/>
          <p:cNvGraphicFramePr>
            <a:graphicFrameLocks noGrp="1"/>
          </p:cNvGraphicFramePr>
          <p:nvPr/>
        </p:nvGraphicFramePr>
        <p:xfrm>
          <a:off x="548640" y="1463040"/>
          <a:ext cx="5943600" cy="3566160"/>
        </p:xfrm>
        <a:graphic>
          <a:graphicData uri="http://schemas.openxmlformats.org/drawingml/2006/table">
            <a:tbl>
              <a:tblPr firstRow="1" bandRow="1">
                <a:tableStyleId>{5C22544A-7EE6-4342-B048-85BDC9FD1C3A}</a:tableStyleId>
              </a:tblPr>
              <a:tblGrid>
                <a:gridCol w="1097280"/>
                <a:gridCol w="4846320"/>
              </a:tblGrid>
              <a:tr h="594360">
                <a:tc>
                  <a:txBody>
                    <a:bodyPr wrap="square"/>
                    <a:lstStyle/>
                    <a:p>
                      <a:r>
                        <a:rPr sz="1400" b="1" i="0" lang="th-TH">
                          <a:solidFill>
                            <a:srgbClr val="FFFFFF"/>
                          </a:solidFill>
                          <a:latin typeface="Tahoma"/>
                          <a:ea typeface="Tahoma"/>
                          <a:cs typeface="Tahoma"/>
                        </a:rPr>
                        <a:t>สถานะ</a:t>
                      </a:r>
                    </a:p>
                  </a:txBody>
                  <a:tcPr anchor="ctr" marL="109728">
                    <a:solidFill>
                      <a:srgbClr val="0B2545"/>
                    </a:solidFill>
                  </a:tcPr>
                </a:tc>
                <a:tc>
                  <a:txBody>
                    <a:bodyPr wrap="square"/>
                    <a:lstStyle/>
                    <a:p>
                      <a:r>
                        <a:rPr sz="1400" b="1" i="0" lang="th-TH">
                          <a:solidFill>
                            <a:srgbClr val="FFFFFF"/>
                          </a:solidFill>
                          <a:latin typeface="Tahoma"/>
                          <a:ea typeface="Tahoma"/>
                          <a:cs typeface="Tahoma"/>
                        </a:rPr>
                        <a:t>เมื่อไหร่</a:t>
                      </a:r>
                    </a:p>
                  </a:txBody>
                  <a:tcPr anchor="ctr" marL="109728">
                    <a:solidFill>
                      <a:srgbClr val="0B2545"/>
                    </a:solidFill>
                  </a:tcPr>
                </a:tc>
              </a:tr>
              <a:tr h="594360">
                <a:tc>
                  <a:txBody>
                    <a:bodyPr wrap="square"/>
                    <a:lstStyle/>
                    <a:p>
                      <a:r>
                        <a:rPr sz="1400" b="1" i="0" lang="th-TH">
                          <a:solidFill>
                            <a:srgbClr val="1B2B3A"/>
                          </a:solidFill>
                          <a:latin typeface="Tahoma"/>
                          <a:ea typeface="Tahoma"/>
                          <a:cs typeface="Tahoma"/>
                        </a:rPr>
                        <a:t>400</a:t>
                      </a:r>
                    </a:p>
                  </a:txBody>
                  <a:tcPr anchor="ctr" marL="109728">
                    <a:solidFill>
                      <a:srgbClr val="E6F3F1"/>
                    </a:solidFill>
                  </a:tcPr>
                </a:tc>
                <a:tc>
                  <a:txBody>
                    <a:bodyPr wrap="square"/>
                    <a:lstStyle/>
                    <a:p>
                      <a:r>
                        <a:rPr sz="1400" b="0" i="0" lang="th-TH">
                          <a:solidFill>
                            <a:srgbClr val="1B2B3A"/>
                          </a:solidFill>
                          <a:latin typeface="Tahoma"/>
                          <a:ea typeface="Tahoma"/>
                          <a:cs typeface="Tahoma"/>
                        </a:rPr>
                        <a:t>validation ไม่ผ่าน · กฎธุรกิจ · JSON เสีย · sort ผิด</a:t>
                      </a:r>
                    </a:p>
                  </a:txBody>
                  <a:tcPr anchor="ctr" marL="109728">
                    <a:solidFill>
                      <a:srgbClr val="E6F3F1"/>
                    </a:solidFill>
                  </a:tcPr>
                </a:tc>
              </a:tr>
              <a:tr h="594360">
                <a:tc>
                  <a:txBody>
                    <a:bodyPr wrap="square"/>
                    <a:lstStyle/>
                    <a:p>
                      <a:r>
                        <a:rPr sz="1400" b="1" i="0" lang="th-TH">
                          <a:solidFill>
                            <a:srgbClr val="1B2B3A"/>
                          </a:solidFill>
                          <a:latin typeface="Tahoma"/>
                          <a:ea typeface="Tahoma"/>
                          <a:cs typeface="Tahoma"/>
                        </a:rPr>
                        <a:t>403</a:t>
                      </a:r>
                    </a:p>
                  </a:txBody>
                  <a:tcPr anchor="ctr" marL="109728">
                    <a:solidFill>
                      <a:srgbClr val="FFFFFF"/>
                    </a:solidFill>
                  </a:tcPr>
                </a:tc>
                <a:tc>
                  <a:txBody>
                    <a:bodyPr wrap="square"/>
                    <a:lstStyle/>
                    <a:p>
                      <a:r>
                        <a:rPr sz="1400" b="0" i="0" lang="th-TH">
                          <a:solidFill>
                            <a:srgbClr val="1B2B3A"/>
                          </a:solidFill>
                          <a:latin typeface="Tahoma"/>
                          <a:ea typeface="Tahoma"/>
                          <a:cs typeface="Tahoma"/>
                        </a:rPr>
                        <a:t>ไม่มีสิทธิ์ / ไม่ใช่เจ้าของ</a:t>
                      </a:r>
                    </a:p>
                  </a:txBody>
                  <a:tcPr anchor="ctr" marL="109728">
                    <a:solidFill>
                      <a:srgbClr val="FFFFFF"/>
                    </a:solidFill>
                  </a:tcPr>
                </a:tc>
              </a:tr>
              <a:tr h="594360">
                <a:tc>
                  <a:txBody>
                    <a:bodyPr wrap="square"/>
                    <a:lstStyle/>
                    <a:p>
                      <a:r>
                        <a:rPr sz="1400" b="1" i="0" lang="th-TH">
                          <a:solidFill>
                            <a:srgbClr val="1B2B3A"/>
                          </a:solidFill>
                          <a:latin typeface="Tahoma"/>
                          <a:ea typeface="Tahoma"/>
                          <a:cs typeface="Tahoma"/>
                        </a:rPr>
                        <a:t>404</a:t>
                      </a:r>
                    </a:p>
                  </a:txBody>
                  <a:tcPr anchor="ctr" marL="109728">
                    <a:solidFill>
                      <a:srgbClr val="E6F3F1"/>
                    </a:solidFill>
                  </a:tcPr>
                </a:tc>
                <a:tc>
                  <a:txBody>
                    <a:bodyPr wrap="square"/>
                    <a:lstStyle/>
                    <a:p>
                      <a:r>
                        <a:rPr sz="1400" b="0" i="0" lang="th-TH">
                          <a:solidFill>
                            <a:srgbClr val="1B2B3A"/>
                          </a:solidFill>
                          <a:latin typeface="Tahoma"/>
                          <a:ea typeface="Tahoma"/>
                          <a:cs typeface="Tahoma"/>
                        </a:rPr>
                        <a:t>ไม่พบข้อมูล</a:t>
                      </a:r>
                    </a:p>
                  </a:txBody>
                  <a:tcPr anchor="ctr" marL="109728">
                    <a:solidFill>
                      <a:srgbClr val="E6F3F1"/>
                    </a:solidFill>
                  </a:tcPr>
                </a:tc>
              </a:tr>
              <a:tr h="594360">
                <a:tc>
                  <a:txBody>
                    <a:bodyPr wrap="square"/>
                    <a:lstStyle/>
                    <a:p>
                      <a:r>
                        <a:rPr sz="1400" b="1" i="0" lang="th-TH">
                          <a:solidFill>
                            <a:srgbClr val="1B2B3A"/>
                          </a:solidFill>
                          <a:latin typeface="Tahoma"/>
                          <a:ea typeface="Tahoma"/>
                          <a:cs typeface="Tahoma"/>
                        </a:rPr>
                        <a:t>409</a:t>
                      </a:r>
                    </a:p>
                  </a:txBody>
                  <a:tcPr anchor="ctr" marL="109728">
                    <a:solidFill>
                      <a:srgbClr val="FFFFFF"/>
                    </a:solidFill>
                  </a:tcPr>
                </a:tc>
                <a:tc>
                  <a:txBody>
                    <a:bodyPr wrap="square"/>
                    <a:lstStyle/>
                    <a:p>
                      <a:r>
                        <a:rPr sz="1400" b="0" i="0" lang="th-TH">
                          <a:solidFill>
                            <a:srgbClr val="1B2B3A"/>
                          </a:solidFill>
                          <a:latin typeface="Tahoma"/>
                          <a:ea typeface="Tahoma"/>
                          <a:cs typeface="Tahoma"/>
                        </a:rPr>
                        <a:t>จ่ายซ้ำ · จองซ้อน · ข้อมูลชนกัน</a:t>
                      </a:r>
                    </a:p>
                  </a:txBody>
                  <a:tcPr anchor="ctr" marL="109728">
                    <a:solidFill>
                      <a:srgbClr val="FFFFFF"/>
                    </a:solidFill>
                  </a:tcPr>
                </a:tc>
              </a:tr>
              <a:tr h="594360">
                <a:tc>
                  <a:txBody>
                    <a:bodyPr wrap="square"/>
                    <a:lstStyle/>
                    <a:p>
                      <a:r>
                        <a:rPr sz="1400" b="1" i="0" lang="th-TH">
                          <a:solidFill>
                            <a:srgbClr val="1B2B3A"/>
                          </a:solidFill>
                          <a:latin typeface="Tahoma"/>
                          <a:ea typeface="Tahoma"/>
                          <a:cs typeface="Tahoma"/>
                        </a:rPr>
                        <a:t>500</a:t>
                      </a:r>
                    </a:p>
                  </a:txBody>
                  <a:tcPr anchor="ctr" marL="109728">
                    <a:solidFill>
                      <a:srgbClr val="E6F3F1"/>
                    </a:solidFill>
                  </a:tcPr>
                </a:tc>
                <a:tc>
                  <a:txBody>
                    <a:bodyPr wrap="square"/>
                    <a:lstStyle/>
                    <a:p>
                      <a:r>
                        <a:rPr sz="1400" b="0" i="0" lang="th-TH">
                          <a:solidFill>
                            <a:srgbClr val="1B2B3A"/>
                          </a:solidFill>
                          <a:latin typeface="Tahoma"/>
                          <a:ea typeface="Tahoma"/>
                          <a:cs typeface="Tahoma"/>
                        </a:rPr>
                        <a:t>ข้อผิดพลาดอื่น (ไม่ส่งข้อความภายใน)</a:t>
                      </a:r>
                    </a:p>
                  </a:txBody>
                  <a:tcPr anchor="ctr" marL="109728">
                    <a:solidFill>
                      <a:srgbClr val="E6F3F1"/>
                    </a:solidFill>
                  </a:tcPr>
                </a:tc>
              </a:tr>
            </a:tbl>
          </a:graphicData>
        </a:graphic>
      </p:graphicFrame>
      <p:sp>
        <p:nvSpPr>
          <p:cNvPr id="4" name="Rounded Rectangle 3"/>
          <p:cNvSpPr/>
          <p:nvPr/>
        </p:nvSpPr>
        <p:spPr>
          <a:xfrm>
            <a:off x="6858000" y="1463040"/>
            <a:ext cx="4846320" cy="356616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0" y="1645920"/>
            <a:ext cx="4480560" cy="3200400"/>
          </a:xfrm>
          <a:prstGeom prst="rect">
            <a:avLst/>
          </a:prstGeom>
          <a:noFill/>
        </p:spPr>
        <p:txBody>
          <a:bodyPr wrap="square" lIns="45720" rIns="45720" tIns="27432" bIns="27432" anchor="t">
            <a:spAutoFit/>
          </a:bodyPr>
          <a:lstStyle/>
          <a:p>
            <a:pPr algn="l">
              <a:spcAft>
                <a:spcPts val="300"/>
              </a:spcAft>
            </a:pPr>
            <a:r>
              <a:rPr sz="1300" b="0" i="0" lang="th-TH">
                <a:solidFill>
                  <a:srgbClr val="FFFFFF"/>
                </a:solidFill>
                <a:latin typeface="Courier New"/>
                <a:ea typeface="Courier New"/>
                <a:cs typeface="Courier New"/>
              </a:rPr>
              <a:t>{</a:t>
            </a:r>
          </a:p>
          <a:p>
            <a:pPr algn="l">
              <a:spcAft>
                <a:spcPts val="300"/>
              </a:spcAft>
            </a:pPr>
            <a:r>
              <a:rPr sz="1300" b="0" i="0" lang="th-TH">
                <a:solidFill>
                  <a:srgbClr val="FFFFFF"/>
                </a:solidFill>
                <a:latin typeface="Courier New"/>
                <a:ea typeface="Courier New"/>
                <a:cs typeface="Courier New"/>
              </a:rPr>
              <a:t>  "timestamp": "2026-10-09T10:15:30",</a:t>
            </a:r>
          </a:p>
          <a:p>
            <a:pPr algn="l">
              <a:spcAft>
                <a:spcPts val="300"/>
              </a:spcAft>
            </a:pPr>
            <a:r>
              <a:rPr sz="1300" b="0" i="0" lang="th-TH">
                <a:solidFill>
                  <a:srgbClr val="FFFFFF"/>
                </a:solidFill>
                <a:latin typeface="Courier New"/>
                <a:ea typeface="Courier New"/>
                <a:cs typeface="Courier New"/>
              </a:rPr>
              <a:t>  "status": 404,</a:t>
            </a:r>
          </a:p>
          <a:p>
            <a:pPr algn="l">
              <a:spcAft>
                <a:spcPts val="300"/>
              </a:spcAft>
            </a:pPr>
            <a:r>
              <a:rPr sz="1300" b="0" i="0" lang="th-TH">
                <a:solidFill>
                  <a:srgbClr val="FFFFFF"/>
                </a:solidFill>
                <a:latin typeface="Courier New"/>
                <a:ea typeface="Courier New"/>
                <a:cs typeface="Courier New"/>
              </a:rPr>
              <a:t>  "error": "Not Found",</a:t>
            </a:r>
          </a:p>
          <a:p>
            <a:pPr algn="l">
              <a:spcAft>
                <a:spcPts val="300"/>
              </a:spcAft>
            </a:pPr>
            <a:r>
              <a:rPr sz="1300" b="0" i="0" lang="th-TH">
                <a:solidFill>
                  <a:srgbClr val="FFFFFF"/>
                </a:solidFill>
                <a:latin typeface="Courier New"/>
                <a:ea typeface="Courier New"/>
                <a:cs typeface="Courier New"/>
              </a:rPr>
              <a:t>  "message": "Order 99 not found",</a:t>
            </a:r>
          </a:p>
          <a:p>
            <a:pPr algn="l">
              <a:spcAft>
                <a:spcPts val="300"/>
              </a:spcAft>
            </a:pPr>
            <a:r>
              <a:rPr sz="1300" b="0" i="0" lang="th-TH">
                <a:solidFill>
                  <a:srgbClr val="FFFFFF"/>
                </a:solidFill>
                <a:latin typeface="Courier New"/>
                <a:ea typeface="Courier New"/>
                <a:cs typeface="Courier New"/>
              </a:rPr>
              <a:t>  "path": "/api/v1/orders/99",</a:t>
            </a:r>
          </a:p>
          <a:p>
            <a:pPr algn="l">
              <a:spcAft>
                <a:spcPts val="300"/>
              </a:spcAft>
            </a:pPr>
            <a:r>
              <a:rPr sz="1300" b="0" i="0" lang="th-TH">
                <a:solidFill>
                  <a:srgbClr val="FFFFFF"/>
                </a:solidFill>
                <a:latin typeface="Courier New"/>
                <a:ea typeface="Courier New"/>
                <a:cs typeface="Courier New"/>
              </a:rPr>
              <a:t>  "fieldErrors": []</a:t>
            </a:r>
          </a:p>
          <a:p>
            <a:pPr algn="l">
              <a:spcAft>
                <a:spcPts val="300"/>
              </a:spcAft>
            </a:pPr>
            <a:r>
              <a:rPr sz="1300" b="0" i="0" lang="th-TH">
                <a:solidFill>
                  <a:srgbClr val="FFFFFF"/>
                </a:solidFill>
                <a:latin typeface="Courier New"/>
                <a:ea typeface="Courier New"/>
                <a:cs typeface="Courier New"/>
              </a:rPr>
              <a:t>}</a:t>
            </a:r>
          </a:p>
        </p:txBody>
      </p:sp>
      <p:sp>
        <p:nvSpPr>
          <p:cNvPr id="6" name="TextBox 5"/>
          <p:cNvSpPr txBox="1"/>
          <p:nvPr/>
        </p:nvSpPr>
        <p:spPr>
          <a:xfrm>
            <a:off x="548640" y="5349240"/>
            <a:ext cx="11064240" cy="822960"/>
          </a:xfrm>
          <a:prstGeom prst="rect">
            <a:avLst/>
          </a:prstGeom>
          <a:noFill/>
        </p:spPr>
        <p:txBody>
          <a:bodyPr wrap="square" lIns="45720" rIns="45720" tIns="27432" bIns="27432" anchor="t">
            <a:spAutoFit/>
          </a:bodyPr>
          <a:lstStyle/>
          <a:p>
            <a:pPr algn="l">
              <a:spcAft>
                <a:spcPts val="400"/>
              </a:spcAft>
            </a:pPr>
            <a:r>
              <a:rPr sz="1600" b="1" i="0" lang="th-TH">
                <a:solidFill>
                  <a:srgbClr val="139A8E"/>
                </a:solidFill>
                <a:latin typeface="Tahoma"/>
                <a:ea typeface="Tahoma"/>
                <a:cs typeface="Tahoma"/>
              </a:rPr>
              <a:t>ทดสอบจริง: 401 / 403 / 404 / 400 ตอบรูปแบบนี้เหมือนกันทุก endpoint</a:t>
            </a:r>
          </a:p>
          <a:p>
            <a:pPr algn="l">
              <a:spcAft>
                <a:spcPts val="0"/>
              </a:spcAft>
            </a:pPr>
            <a:r>
              <a:rPr sz="1400" b="0" i="0" lang="th-TH">
                <a:solidFill>
                  <a:srgbClr val="1B2B3A"/>
                </a:solidFill>
                <a:latin typeface="Tahoma"/>
                <a:ea typeface="Tahoma"/>
                <a:cs typeface="Tahoma"/>
              </a:rPr>
              <a:t>ไม่ส่ง stack trace หรือข้อความจากฐานข้อมูลออกไป</a:t>
            </a:r>
          </a:p>
        </p:txBody>
      </p:sp>
      <p:sp>
        <p:nvSpPr>
          <p:cNvPr id="7"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กฎสำคัญของ Payment</a:t>
            </a:r>
          </a:p>
        </p:txBody>
      </p:sp>
      <p:sp>
        <p:nvSpPr>
          <p:cNvPr id="3" name="Rounded Rectangle 2"/>
          <p:cNvSpPr/>
          <p:nvPr/>
        </p:nvSpPr>
        <p:spPr>
          <a:xfrm>
            <a:off x="548640" y="1371600"/>
            <a:ext cx="5394960" cy="201168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4937760" cy="457200"/>
          </a:xfrm>
          <a:prstGeom prst="rect">
            <a:avLst/>
          </a:prstGeom>
          <a:noFill/>
        </p:spPr>
        <p:txBody>
          <a:bodyPr wrap="square" lIns="45720" rIns="45720" tIns="27432" bIns="27432" anchor="t">
            <a:spAutoFit/>
          </a:bodyPr>
          <a:lstStyle/>
          <a:p>
            <a:pPr algn="l">
              <a:spcAft>
                <a:spcPts val="0"/>
              </a:spcAft>
            </a:pPr>
            <a:r>
              <a:rPr sz="1800" b="1" i="0" lang="th-TH">
                <a:solidFill>
                  <a:srgbClr val="139A8E"/>
                </a:solidFill>
                <a:latin typeface="Tahoma"/>
                <a:ea typeface="Tahoma"/>
                <a:cs typeface="Tahoma"/>
              </a:rPr>
              <a:t>ยอดเงินมาจากเซิร์ฟเวอร์</a:t>
            </a:r>
          </a:p>
        </p:txBody>
      </p:sp>
      <p:sp>
        <p:nvSpPr>
          <p:cNvPr id="5" name="TextBox 4"/>
          <p:cNvSpPr txBox="1"/>
          <p:nvPr/>
        </p:nvSpPr>
        <p:spPr>
          <a:xfrm>
            <a:off x="777240" y="2057400"/>
            <a:ext cx="4937760" cy="12344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CheckoutRequest ไม่มีฟิลด์ amount
ยอดมาจาก Payable.getPayableAmount() กันการแก้ราคา</a:t>
            </a:r>
          </a:p>
        </p:txBody>
      </p:sp>
      <p:sp>
        <p:nvSpPr>
          <p:cNvPr id="6" name="Rounded Rectangle 5"/>
          <p:cNvSpPr/>
          <p:nvPr/>
        </p:nvSpPr>
        <p:spPr>
          <a:xfrm>
            <a:off x="6217920" y="1371600"/>
            <a:ext cx="5394960" cy="201168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08760"/>
            <a:ext cx="4937760" cy="457200"/>
          </a:xfrm>
          <a:prstGeom prst="rect">
            <a:avLst/>
          </a:prstGeom>
          <a:noFill/>
        </p:spPr>
        <p:txBody>
          <a:bodyPr wrap="square" lIns="45720" rIns="45720" tIns="27432" bIns="27432" anchor="t">
            <a:spAutoFit/>
          </a:bodyPr>
          <a:lstStyle/>
          <a:p>
            <a:pPr algn="l">
              <a:spcAft>
                <a:spcPts val="0"/>
              </a:spcAft>
            </a:pPr>
            <a:r>
              <a:rPr sz="1800" b="1" i="0" lang="th-TH">
                <a:solidFill>
                  <a:srgbClr val="139A8E"/>
                </a:solidFill>
                <a:latin typeface="Tahoma"/>
                <a:ea typeface="Tahoma"/>
                <a:cs typeface="Tahoma"/>
              </a:rPr>
              <a:t>ตรวจเจ้าของก่อนสร้าง payment</a:t>
            </a:r>
          </a:p>
        </p:txBody>
      </p:sp>
      <p:sp>
        <p:nvSpPr>
          <p:cNvPr id="8" name="TextBox 7"/>
          <p:cNvSpPr txBox="1"/>
          <p:nvPr/>
        </p:nvSpPr>
        <p:spPr>
          <a:xfrm>
            <a:off x="6446520" y="2057400"/>
            <a:ext cx="4937760" cy="12344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ไม่ใช่เจ้าของหรือพนักงาน → 403
ตรวจใน CheckoutFacade</a:t>
            </a:r>
          </a:p>
        </p:txBody>
      </p:sp>
      <p:sp>
        <p:nvSpPr>
          <p:cNvPr id="9" name="Rounded Rectangle 8"/>
          <p:cNvSpPr/>
          <p:nvPr/>
        </p:nvSpPr>
        <p:spPr>
          <a:xfrm>
            <a:off x="548640" y="3611880"/>
            <a:ext cx="5394960" cy="201168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49040"/>
            <a:ext cx="4937760" cy="457200"/>
          </a:xfrm>
          <a:prstGeom prst="rect">
            <a:avLst/>
          </a:prstGeom>
          <a:noFill/>
        </p:spPr>
        <p:txBody>
          <a:bodyPr wrap="square" lIns="45720" rIns="45720" tIns="27432" bIns="27432" anchor="t">
            <a:spAutoFit/>
          </a:bodyPr>
          <a:lstStyle/>
          <a:p>
            <a:pPr algn="l">
              <a:spcAft>
                <a:spcPts val="0"/>
              </a:spcAft>
            </a:pPr>
            <a:r>
              <a:rPr sz="1800" b="1" i="0" lang="th-TH">
                <a:solidFill>
                  <a:srgbClr val="139A8E"/>
                </a:solidFill>
                <a:latin typeface="Tahoma"/>
                <a:ea typeface="Tahoma"/>
                <a:cs typeface="Tahoma"/>
              </a:rPr>
              <a:t>กันจ่ายซ้ำ 2 ชั้น</a:t>
            </a:r>
          </a:p>
        </p:txBody>
      </p:sp>
      <p:sp>
        <p:nvSpPr>
          <p:cNvPr id="11" name="TextBox 10"/>
          <p:cNvSpPr txBox="1"/>
          <p:nvPr/>
        </p:nvSpPr>
        <p:spPr>
          <a:xfrm>
            <a:off x="777240" y="4297680"/>
            <a:ext cx="4937760" cy="12344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เช็คในโค้ด (ข้อความอ่านง่าย)
+ UNIQUE ใน DB กันสองคำขอพร้อมกัน → 409</a:t>
            </a:r>
          </a:p>
        </p:txBody>
      </p:sp>
      <p:sp>
        <p:nvSpPr>
          <p:cNvPr id="12" name="Rounded Rectangle 11"/>
          <p:cNvSpPr/>
          <p:nvPr/>
        </p:nvSpPr>
        <p:spPr>
          <a:xfrm>
            <a:off x="6217920" y="3611880"/>
            <a:ext cx="5394960" cy="201168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749040"/>
            <a:ext cx="4937760" cy="457200"/>
          </a:xfrm>
          <a:prstGeom prst="rect">
            <a:avLst/>
          </a:prstGeom>
          <a:noFill/>
        </p:spPr>
        <p:txBody>
          <a:bodyPr wrap="square" lIns="45720" rIns="45720" tIns="27432" bIns="27432" anchor="t">
            <a:spAutoFit/>
          </a:bodyPr>
          <a:lstStyle/>
          <a:p>
            <a:pPr algn="l">
              <a:spcAft>
                <a:spcPts val="0"/>
              </a:spcAft>
            </a:pPr>
            <a:r>
              <a:rPr sz="1800" b="1" i="0" lang="th-TH">
                <a:solidFill>
                  <a:srgbClr val="139A8E"/>
                </a:solidFill>
                <a:latin typeface="Tahoma"/>
                <a:ea typeface="Tahoma"/>
                <a:cs typeface="Tahoma"/>
              </a:rPr>
              <a:t>FK 2 ตัว + CHECK</a:t>
            </a:r>
          </a:p>
        </p:txBody>
      </p:sp>
      <p:sp>
        <p:nvSpPr>
          <p:cNvPr id="14" name="TextBox 13"/>
          <p:cNvSpPr txBox="1"/>
          <p:nvPr/>
        </p:nvSpPr>
        <p:spPr>
          <a:xfrm>
            <a:off x="6446520" y="4297680"/>
            <a:ext cx="4937760" cy="1234440"/>
          </a:xfrm>
          <a:prstGeom prst="rect">
            <a:avLst/>
          </a:prstGeom>
          <a:noFill/>
        </p:spPr>
        <p:txBody>
          <a:bodyPr wrap="square" lIns="45720" rIns="45720" tIns="27432" bIns="27432" anchor="t">
            <a:spAutoFit/>
          </a:bodyPr>
          <a:lstStyle/>
          <a:p>
            <a:pPr algn="l">
              <a:spcAft>
                <a:spcPts val="0"/>
              </a:spcAft>
            </a:pPr>
            <a:r>
              <a:rPr sz="1400" b="0" i="0" lang="th-TH">
                <a:solidFill>
                  <a:srgbClr val="1B2B3A"/>
                </a:solidFill>
                <a:latin typeface="Tahoma"/>
                <a:ea typeface="Tahoma"/>
                <a:cs typeface="Tahoma"/>
              </a:rPr>
              <a:t>จ่ายให้ order หรือ session อย่างใดอย่างหนึ่งเท่านั้น
(chk_payment_target)</a:t>
            </a:r>
          </a:p>
        </p:txBody>
      </p:sp>
      <p:sp>
        <p:nvSpPr>
          <p:cNvPr id="15" name="TextBox 14"/>
          <p:cNvSpPr txBox="1"/>
          <p:nvPr/>
        </p:nvSpPr>
        <p:spPr>
          <a:xfrm>
            <a:off x="548640" y="5852160"/>
            <a:ext cx="11064240" cy="594360"/>
          </a:xfrm>
          <a:prstGeom prst="rect">
            <a:avLst/>
          </a:prstGeom>
          <a:noFill/>
        </p:spPr>
        <p:txBody>
          <a:bodyPr wrap="square" lIns="45720" rIns="45720" tIns="27432" bIns="27432" anchor="t">
            <a:spAutoFit/>
          </a:bodyPr>
          <a:lstStyle/>
          <a:p>
            <a:pPr algn="l">
              <a:spcAft>
                <a:spcPts val="0"/>
              </a:spcAft>
            </a:pPr>
            <a:r>
              <a:rPr sz="1300" b="0" i="0" lang="th-TH">
                <a:solidFill>
                  <a:srgbClr val="5B6B7A"/>
                </a:solidFill>
                <a:latin typeface="Tahoma"/>
                <a:ea typeface="Tahoma"/>
                <a:cs typeface="Tahoma"/>
              </a:rPr>
              <a:t>พิสูจน์กับ PostgreSQL จริง: payments_order_id_key · fk_payment_order · chk_payment_target  (PaymentRepositoryDbTest 13 ข้อ)</a:t>
            </a:r>
          </a:p>
        </p:txBody>
      </p:sp>
      <p:sp>
        <p:nvSpPr>
          <p:cNvPr id="16"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การทดสอบ</a:t>
            </a:r>
          </a:p>
        </p:txBody>
      </p:sp>
      <p:sp>
        <p:nvSpPr>
          <p:cNvPr id="3" name="Rounded Rectangle 2"/>
          <p:cNvSpPr/>
          <p:nvPr/>
        </p:nvSpPr>
        <p:spPr>
          <a:xfrm>
            <a:off x="548640" y="1371600"/>
            <a:ext cx="5212080" cy="13716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554480" cy="1188720"/>
          </a:xfrm>
          <a:prstGeom prst="rect">
            <a:avLst/>
          </a:prstGeom>
          <a:noFill/>
        </p:spPr>
        <p:txBody>
          <a:bodyPr wrap="square" lIns="45720" rIns="45720" tIns="27432" bIns="27432" anchor="ctr">
            <a:spAutoFit/>
          </a:bodyPr>
          <a:lstStyle/>
          <a:p>
            <a:pPr algn="l">
              <a:spcAft>
                <a:spcPts val="0"/>
              </a:spcAft>
            </a:pPr>
            <a:r>
              <a:rPr sz="4400" b="1" i="0" lang="th-TH">
                <a:solidFill>
                  <a:srgbClr val="139A8E"/>
                </a:solidFill>
                <a:latin typeface="Tahoma"/>
                <a:ea typeface="Tahoma"/>
                <a:cs typeface="Tahoma"/>
              </a:rPr>
              <a:t>102</a:t>
            </a:r>
          </a:p>
        </p:txBody>
      </p:sp>
      <p:sp>
        <p:nvSpPr>
          <p:cNvPr id="5" name="TextBox 4"/>
          <p:cNvSpPr txBox="1"/>
          <p:nvPr/>
        </p:nvSpPr>
        <p:spPr>
          <a:xfrm>
            <a:off x="2331720" y="1463040"/>
            <a:ext cx="3291840" cy="1188720"/>
          </a:xfrm>
          <a:prstGeom prst="rect">
            <a:avLst/>
          </a:prstGeom>
          <a:noFill/>
        </p:spPr>
        <p:txBody>
          <a:bodyPr wrap="square" lIns="45720" rIns="45720" tIns="27432" bIns="27432" anchor="ctr">
            <a:spAutoFit/>
          </a:bodyPr>
          <a:lstStyle/>
          <a:p>
            <a:pPr algn="l">
              <a:spcAft>
                <a:spcPts val="0"/>
              </a:spcAft>
            </a:pPr>
            <a:r>
              <a:rPr sz="1500" b="0" i="0" lang="th-TH">
                <a:solidFill>
                  <a:srgbClr val="1B2B3A"/>
                </a:solidFill>
                <a:latin typeface="Tahoma"/>
                <a:ea typeface="Tahoma"/>
                <a:cs typeface="Tahoma"/>
              </a:rPr>
              <a:t>unit test ของโมดูลนี้
ผ่านทั้งหมด</a:t>
            </a:r>
          </a:p>
        </p:txBody>
      </p:sp>
      <p:sp>
        <p:nvSpPr>
          <p:cNvPr id="6" name="Rounded Rectangle 5"/>
          <p:cNvSpPr/>
          <p:nvPr/>
        </p:nvSpPr>
        <p:spPr>
          <a:xfrm>
            <a:off x="548640" y="2926080"/>
            <a:ext cx="5212080" cy="13716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017520"/>
            <a:ext cx="1554480" cy="1188720"/>
          </a:xfrm>
          <a:prstGeom prst="rect">
            <a:avLst/>
          </a:prstGeom>
          <a:noFill/>
        </p:spPr>
        <p:txBody>
          <a:bodyPr wrap="square" lIns="45720" rIns="45720" tIns="27432" bIns="27432" anchor="ctr">
            <a:spAutoFit/>
          </a:bodyPr>
          <a:lstStyle/>
          <a:p>
            <a:pPr algn="l">
              <a:spcAft>
                <a:spcPts val="0"/>
              </a:spcAft>
            </a:pPr>
            <a:r>
              <a:rPr sz="4400" b="1" i="0" lang="th-TH">
                <a:solidFill>
                  <a:srgbClr val="139A8E"/>
                </a:solidFill>
                <a:latin typeface="Tahoma"/>
                <a:ea typeface="Tahoma"/>
                <a:cs typeface="Tahoma"/>
              </a:rPr>
              <a:t>13</a:t>
            </a:r>
          </a:p>
        </p:txBody>
      </p:sp>
      <p:sp>
        <p:nvSpPr>
          <p:cNvPr id="8" name="TextBox 7"/>
          <p:cNvSpPr txBox="1"/>
          <p:nvPr/>
        </p:nvSpPr>
        <p:spPr>
          <a:xfrm>
            <a:off x="2331720" y="3017520"/>
            <a:ext cx="3291840" cy="1188720"/>
          </a:xfrm>
          <a:prstGeom prst="rect">
            <a:avLst/>
          </a:prstGeom>
          <a:noFill/>
        </p:spPr>
        <p:txBody>
          <a:bodyPr wrap="square" lIns="45720" rIns="45720" tIns="27432" bIns="27432" anchor="ctr">
            <a:spAutoFit/>
          </a:bodyPr>
          <a:lstStyle/>
          <a:p>
            <a:pPr algn="l">
              <a:spcAft>
                <a:spcPts val="0"/>
              </a:spcAft>
            </a:pPr>
            <a:r>
              <a:rPr sz="1500" b="0" i="0" lang="th-TH">
                <a:solidFill>
                  <a:srgbClr val="1B2B3A"/>
                </a:solidFill>
                <a:latin typeface="Tahoma"/>
                <a:ea typeface="Tahoma"/>
                <a:cs typeface="Tahoma"/>
              </a:rPr>
              <a:t>เทสต์ constraint
กับ PostgreSQL จริง</a:t>
            </a:r>
          </a:p>
        </p:txBody>
      </p:sp>
      <p:sp>
        <p:nvSpPr>
          <p:cNvPr id="9" name="Rounded Rectangle 8"/>
          <p:cNvSpPr/>
          <p:nvPr/>
        </p:nvSpPr>
        <p:spPr>
          <a:xfrm>
            <a:off x="548640" y="4480560"/>
            <a:ext cx="5212080" cy="13716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572000"/>
            <a:ext cx="1554480" cy="1188720"/>
          </a:xfrm>
          <a:prstGeom prst="rect">
            <a:avLst/>
          </a:prstGeom>
          <a:noFill/>
        </p:spPr>
        <p:txBody>
          <a:bodyPr wrap="square" lIns="45720" rIns="45720" tIns="27432" bIns="27432" anchor="ctr">
            <a:spAutoFit/>
          </a:bodyPr>
          <a:lstStyle/>
          <a:p>
            <a:pPr algn="l">
              <a:spcAft>
                <a:spcPts val="0"/>
              </a:spcAft>
            </a:pPr>
            <a:r>
              <a:rPr sz="4400" b="1" i="0" lang="th-TH">
                <a:solidFill>
                  <a:srgbClr val="139A8E"/>
                </a:solidFill>
                <a:latin typeface="Tahoma"/>
                <a:ea typeface="Tahoma"/>
                <a:cs typeface="Tahoma"/>
              </a:rPr>
              <a:t>332</a:t>
            </a:r>
          </a:p>
        </p:txBody>
      </p:sp>
      <p:sp>
        <p:nvSpPr>
          <p:cNvPr id="11" name="TextBox 10"/>
          <p:cNvSpPr txBox="1"/>
          <p:nvPr/>
        </p:nvSpPr>
        <p:spPr>
          <a:xfrm>
            <a:off x="2331720" y="4572000"/>
            <a:ext cx="3291840" cy="1188720"/>
          </a:xfrm>
          <a:prstGeom prst="rect">
            <a:avLst/>
          </a:prstGeom>
          <a:noFill/>
        </p:spPr>
        <p:txBody>
          <a:bodyPr wrap="square" lIns="45720" rIns="45720" tIns="27432" bIns="27432" anchor="ctr">
            <a:spAutoFit/>
          </a:bodyPr>
          <a:lstStyle/>
          <a:p>
            <a:pPr algn="l">
              <a:spcAft>
                <a:spcPts val="0"/>
              </a:spcAft>
            </a:pPr>
            <a:r>
              <a:rPr sz="1500" b="0" i="0" lang="th-TH">
                <a:solidFill>
                  <a:srgbClr val="1B2B3A"/>
                </a:solidFill>
                <a:latin typeface="Tahoma"/>
                <a:ea typeface="Tahoma"/>
                <a:cs typeface="Tahoma"/>
              </a:rPr>
              <a:t>เทสต์ทั้งโปรเจค ผ่านหมด
(ข้าม 35 ที่ต้องเปิด DB)</a:t>
            </a:r>
          </a:p>
        </p:txBody>
      </p:sp>
      <p:graphicFrame>
        <p:nvGraphicFramePr>
          <p:cNvPr id="12" name="TestsByModule"/>
          <p:cNvGraphicFramePr>
            <a:graphicFrameLocks noGrp="1"/>
          </p:cNvGraphicFramePr>
          <p:nvPr/>
        </p:nvGraphicFramePr>
        <p:xfrm>
          <a:off x="6217920" y="1280160"/>
          <a:ext cx="5394960" cy="4297680"/>
        </p:xfrm>
        <a:graphic>
          <a:graphicData uri="http://schemas.openxmlformats.org/drawingml/2006/chart">
            <c:chart xmlns:c="http://schemas.openxmlformats.org/drawingml/2006/chart" r:id="rId3"/>
          </a:graphicData>
        </a:graphic>
      </p:graphicFrame>
      <p:sp>
        <p:nvSpPr>
          <p:cNvPr id="13" name="TextBox 12"/>
          <p:cNvSpPr txBox="1"/>
          <p:nvPr/>
        </p:nvSpPr>
        <p:spPr>
          <a:xfrm>
            <a:off x="6217920" y="5669280"/>
            <a:ext cx="5394960" cy="640080"/>
          </a:xfrm>
          <a:prstGeom prst="rect">
            <a:avLst/>
          </a:prstGeom>
          <a:noFill/>
        </p:spPr>
        <p:txBody>
          <a:bodyPr wrap="square" lIns="45720" rIns="45720" tIns="27432" bIns="27432" anchor="t">
            <a:spAutoFit/>
          </a:bodyPr>
          <a:lstStyle/>
          <a:p>
            <a:pPr algn="l">
              <a:spcAft>
                <a:spcPts val="0"/>
              </a:spcAft>
            </a:pPr>
            <a:r>
              <a:rPr sz="1200" b="0" i="0" lang="th-TH">
                <a:solidFill>
                  <a:srgbClr val="5B6B7A"/>
                </a:solidFill>
                <a:latin typeface="Tahoma"/>
                <a:ea typeface="Tahoma"/>
                <a:cs typeface="Tahoma"/>
              </a:rPr>
              <a:t>ปอนด์: อีก 22 ข้อเป็นเทสต์ที่ต้องต่อฐานข้อมูล (ข้ามในรอบปกติ) รันแล้วผ่าน</a:t>
            </a:r>
          </a:p>
        </p:txBody>
      </p:sp>
      <p:sp>
        <p:nvSpPr>
          <p:cNvPr id="14"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0B2545"/>
                </a:solidFill>
                <a:latin typeface="Tahoma"/>
                <a:ea typeface="Tahoma"/>
                <a:cs typeface="Tahoma"/>
              </a:rPr>
              <a:t>บั๊กที่เจอ และสิ่งที่เรียนรู้</a:t>
            </a:r>
          </a:p>
        </p:txBody>
      </p:sp>
      <p:sp>
        <p:nvSpPr>
          <p:cNvPr id="3" name="Rounded Rectangle 2"/>
          <p:cNvSpPr/>
          <p:nvPr/>
        </p:nvSpPr>
        <p:spPr>
          <a:xfrm>
            <a:off x="548640" y="1371600"/>
            <a:ext cx="11064240" cy="105156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73352"/>
            <a:ext cx="2468880" cy="457200"/>
          </a:xfrm>
          <a:prstGeom prst="roundRect">
            <a:avLst>
              <a:gd name="adj" fmla="val 6000"/>
            </a:avLst>
          </a:prstGeom>
          <a:solidFill>
            <a:srgbClr val="D95D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73352"/>
            <a:ext cx="2468880" cy="457200"/>
          </a:xfrm>
          <a:prstGeom prst="rect">
            <a:avLst/>
          </a:prstGeom>
          <a:noFill/>
        </p:spPr>
        <p:txBody>
          <a:bodyPr wrap="square" lIns="45720" rIns="45720" tIns="27432" bIns="27432" anchor="ctr">
            <a:spAutoFit/>
          </a:bodyPr>
          <a:lstStyle/>
          <a:p>
            <a:pPr algn="ctr">
              <a:spcAft>
                <a:spcPts val="0"/>
              </a:spcAft>
            </a:pPr>
            <a:r>
              <a:rPr sz="1300" b="1" i="0" lang="th-TH">
                <a:solidFill>
                  <a:srgbClr val="FFFFFF"/>
                </a:solidFill>
                <a:latin typeface="Tahoma"/>
                <a:ea typeface="Tahoma"/>
                <a:cs typeface="Tahoma"/>
              </a:rPr>
              <a:t>พบจาก: เทสต์ล้ม 8 ข้อ</a:t>
            </a:r>
          </a:p>
        </p:txBody>
      </p:sp>
      <p:sp>
        <p:nvSpPr>
          <p:cNvPr id="6" name="TextBox 5"/>
          <p:cNvSpPr txBox="1"/>
          <p:nvPr/>
        </p:nvSpPr>
        <p:spPr>
          <a:xfrm>
            <a:off x="3429000" y="1463040"/>
            <a:ext cx="8046720" cy="914400"/>
          </a:xfrm>
          <a:prstGeom prst="rect">
            <a:avLst/>
          </a:prstGeom>
          <a:noFill/>
        </p:spPr>
        <p:txBody>
          <a:bodyPr wrap="square" lIns="45720" rIns="45720" tIns="27432" bIns="27432" anchor="ctr">
            <a:spAutoFit/>
          </a:bodyPr>
          <a:lstStyle/>
          <a:p>
            <a:pPr algn="l">
              <a:spcAft>
                <a:spcPts val="300"/>
              </a:spcAft>
            </a:pPr>
            <a:r>
              <a:rPr sz="1500" b="1" i="0" lang="th-TH">
                <a:solidFill>
                  <a:srgbClr val="1B2B3A"/>
                </a:solidFill>
                <a:latin typeface="Tahoma"/>
                <a:ea typeface="Tahoma"/>
                <a:cs typeface="Tahoma"/>
              </a:rPr>
              <a:t>@RestControllerAdvice จำกัดขอบเขตผิด → handler ไม่ทำงาน</a:t>
            </a:r>
          </a:p>
          <a:p>
            <a:pPr algn="l">
              <a:spcAft>
                <a:spcPts val="0"/>
              </a:spcAft>
            </a:pPr>
            <a:r>
              <a:rPr sz="1300" b="0" i="0" lang="th-TH">
                <a:solidFill>
                  <a:srgbClr val="5B6B7A"/>
                </a:solidFill>
                <a:latin typeface="Tahoma"/>
                <a:ea typeface="Tahoma"/>
                <a:cs typeface="Tahoma"/>
              </a:rPr>
              <a:t>แก้: ปรับตัวกรอง แล้วให้ครอบทุก controller (405 เกิดก่อนเลือก controller)</a:t>
            </a:r>
          </a:p>
        </p:txBody>
      </p:sp>
      <p:sp>
        <p:nvSpPr>
          <p:cNvPr id="7" name="Rounded Rectangle 6"/>
          <p:cNvSpPr/>
          <p:nvPr/>
        </p:nvSpPr>
        <p:spPr>
          <a:xfrm>
            <a:off x="548640" y="2560320"/>
            <a:ext cx="11064240" cy="105156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862072"/>
            <a:ext cx="2468880" cy="457200"/>
          </a:xfrm>
          <a:prstGeom prst="roundRect">
            <a:avLst>
              <a:gd name="adj" fmla="val 6000"/>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62072"/>
            <a:ext cx="2468880" cy="457200"/>
          </a:xfrm>
          <a:prstGeom prst="rect">
            <a:avLst/>
          </a:prstGeom>
          <a:noFill/>
        </p:spPr>
        <p:txBody>
          <a:bodyPr wrap="square" lIns="45720" rIns="45720" tIns="27432" bIns="27432" anchor="ctr">
            <a:spAutoFit/>
          </a:bodyPr>
          <a:lstStyle/>
          <a:p>
            <a:pPr algn="ctr">
              <a:spcAft>
                <a:spcPts val="0"/>
              </a:spcAft>
            </a:pPr>
            <a:r>
              <a:rPr sz="1300" b="1" i="0" lang="th-TH">
                <a:solidFill>
                  <a:srgbClr val="FFFFFF"/>
                </a:solidFill>
                <a:latin typeface="Tahoma"/>
                <a:ea typeface="Tahoma"/>
                <a:cs typeface="Tahoma"/>
              </a:rPr>
              <a:t>พบจาก: รีวิวของปอนด์</a:t>
            </a:r>
          </a:p>
        </p:txBody>
      </p:sp>
      <p:sp>
        <p:nvSpPr>
          <p:cNvPr id="10" name="TextBox 9"/>
          <p:cNvSpPr txBox="1"/>
          <p:nvPr/>
        </p:nvSpPr>
        <p:spPr>
          <a:xfrm>
            <a:off x="3429000" y="2651760"/>
            <a:ext cx="8046720" cy="914400"/>
          </a:xfrm>
          <a:prstGeom prst="rect">
            <a:avLst/>
          </a:prstGeom>
          <a:noFill/>
        </p:spPr>
        <p:txBody>
          <a:bodyPr wrap="square" lIns="45720" rIns="45720" tIns="27432" bIns="27432" anchor="ctr">
            <a:spAutoFit/>
          </a:bodyPr>
          <a:lstStyle/>
          <a:p>
            <a:pPr algn="l">
              <a:spcAft>
                <a:spcPts val="300"/>
              </a:spcAft>
            </a:pPr>
            <a:r>
              <a:rPr sz="1500" b="1" i="0" lang="th-TH">
                <a:solidFill>
                  <a:srgbClr val="1B2B3A"/>
                </a:solidFill>
                <a:latin typeface="Tahoma"/>
                <a:ea typeface="Tahoma"/>
                <a:cs typeface="Tahoma"/>
              </a:rPr>
              <a:t>handler ของ Exception กลืน error ของ Spring MVC (405 / 400 กลายเป็น 500)</a:t>
            </a:r>
          </a:p>
          <a:p>
            <a:pPr algn="l">
              <a:spcAft>
                <a:spcPts val="0"/>
              </a:spcAft>
            </a:pPr>
            <a:r>
              <a:rPr sz="1300" b="0" i="0" lang="th-TH">
                <a:solidFill>
                  <a:srgbClr val="5B6B7A"/>
                </a:solidFill>
                <a:latin typeface="Tahoma"/>
                <a:ea typeface="Tahoma"/>
                <a:cs typeface="Tahoma"/>
              </a:rPr>
              <a:t>แก้: เพิ่ม handler เฉพาะ พร้อมเทสต์</a:t>
            </a:r>
          </a:p>
        </p:txBody>
      </p:sp>
      <p:sp>
        <p:nvSpPr>
          <p:cNvPr id="11" name="Rounded Rectangle 10"/>
          <p:cNvSpPr/>
          <p:nvPr/>
        </p:nvSpPr>
        <p:spPr>
          <a:xfrm>
            <a:off x="548640" y="3749039"/>
            <a:ext cx="11064240" cy="105156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050791"/>
            <a:ext cx="2468880" cy="457200"/>
          </a:xfrm>
          <a:prstGeom prst="roundRect">
            <a:avLst>
              <a:gd name="adj" fmla="val 6000"/>
            </a:avLst>
          </a:prstGeom>
          <a:solidFill>
            <a:srgbClr val="D95D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50791"/>
            <a:ext cx="2468880" cy="457200"/>
          </a:xfrm>
          <a:prstGeom prst="rect">
            <a:avLst/>
          </a:prstGeom>
          <a:noFill/>
        </p:spPr>
        <p:txBody>
          <a:bodyPr wrap="square" lIns="45720" rIns="45720" tIns="27432" bIns="27432" anchor="ctr">
            <a:spAutoFit/>
          </a:bodyPr>
          <a:lstStyle/>
          <a:p>
            <a:pPr algn="ctr">
              <a:spcAft>
                <a:spcPts val="0"/>
              </a:spcAft>
            </a:pPr>
            <a:r>
              <a:rPr sz="1300" b="1" i="0" lang="th-TH">
                <a:solidFill>
                  <a:srgbClr val="FFFFFF"/>
                </a:solidFill>
                <a:latin typeface="Tahoma"/>
                <a:ea typeface="Tahoma"/>
                <a:cs typeface="Tahoma"/>
              </a:rPr>
              <a:t>พบจาก: ทดสอบจริงบนแอป</a:t>
            </a:r>
          </a:p>
        </p:txBody>
      </p:sp>
      <p:sp>
        <p:nvSpPr>
          <p:cNvPr id="14" name="TextBox 13"/>
          <p:cNvSpPr txBox="1"/>
          <p:nvPr/>
        </p:nvSpPr>
        <p:spPr>
          <a:xfrm>
            <a:off x="3429000" y="3840479"/>
            <a:ext cx="8046720" cy="914400"/>
          </a:xfrm>
          <a:prstGeom prst="rect">
            <a:avLst/>
          </a:prstGeom>
          <a:noFill/>
        </p:spPr>
        <p:txBody>
          <a:bodyPr wrap="square" lIns="45720" rIns="45720" tIns="27432" bIns="27432" anchor="ctr">
            <a:spAutoFit/>
          </a:bodyPr>
          <a:lstStyle/>
          <a:p>
            <a:pPr algn="l">
              <a:spcAft>
                <a:spcPts val="300"/>
              </a:spcAft>
            </a:pPr>
            <a:r>
              <a:rPr sz="1500" b="1" i="0" lang="th-TH">
                <a:solidFill>
                  <a:srgbClr val="1B2B3A"/>
                </a:solidFill>
                <a:latin typeface="Tahoma"/>
                <a:ea typeface="Tahoma"/>
                <a:cs typeface="Tahoma"/>
              </a:rPr>
              <a:t>?sort=abc ได้ 500 แทน 400</a:t>
            </a:r>
          </a:p>
          <a:p>
            <a:pPr algn="l">
              <a:spcAft>
                <a:spcPts val="0"/>
              </a:spcAft>
            </a:pPr>
            <a:r>
              <a:rPr sz="1300" b="0" i="0" lang="th-TH">
                <a:solidFill>
                  <a:srgbClr val="5B6B7A"/>
                </a:solidFill>
                <a:latin typeface="Tahoma"/>
                <a:ea typeface="Tahoma"/>
                <a:cs typeface="Tahoma"/>
              </a:rPr>
              <a:t>แก้: whitelist ฟิลด์ที่เรียงได้ (PageableValidator) → 400</a:t>
            </a:r>
          </a:p>
        </p:txBody>
      </p:sp>
      <p:sp>
        <p:nvSpPr>
          <p:cNvPr id="15" name="Rounded Rectangle 14"/>
          <p:cNvSpPr/>
          <p:nvPr/>
        </p:nvSpPr>
        <p:spPr>
          <a:xfrm>
            <a:off x="548640" y="4937760"/>
            <a:ext cx="11064240" cy="105156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239512"/>
            <a:ext cx="2468880" cy="457200"/>
          </a:xfrm>
          <a:prstGeom prst="roundRect">
            <a:avLst>
              <a:gd name="adj" fmla="val 6000"/>
            </a:avLst>
          </a:prstGeom>
          <a:solidFill>
            <a:srgbClr val="139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239512"/>
            <a:ext cx="2468880" cy="457200"/>
          </a:xfrm>
          <a:prstGeom prst="rect">
            <a:avLst/>
          </a:prstGeom>
          <a:noFill/>
        </p:spPr>
        <p:txBody>
          <a:bodyPr wrap="square" lIns="45720" rIns="45720" tIns="27432" bIns="27432" anchor="ctr">
            <a:spAutoFit/>
          </a:bodyPr>
          <a:lstStyle/>
          <a:p>
            <a:pPr algn="ctr">
              <a:spcAft>
                <a:spcPts val="0"/>
              </a:spcAft>
            </a:pPr>
            <a:r>
              <a:rPr sz="1300" b="1" i="0" lang="th-TH">
                <a:solidFill>
                  <a:srgbClr val="FFFFFF"/>
                </a:solidFill>
                <a:latin typeface="Tahoma"/>
                <a:ea typeface="Tahoma"/>
                <a:cs typeface="Tahoma"/>
              </a:rPr>
              <a:t>พบจาก: รีวิวของปอนด์</a:t>
            </a:r>
          </a:p>
        </p:txBody>
      </p:sp>
      <p:sp>
        <p:nvSpPr>
          <p:cNvPr id="18" name="TextBox 17"/>
          <p:cNvSpPr txBox="1"/>
          <p:nvPr/>
        </p:nvSpPr>
        <p:spPr>
          <a:xfrm>
            <a:off x="3429000" y="5029200"/>
            <a:ext cx="8046720" cy="914400"/>
          </a:xfrm>
          <a:prstGeom prst="rect">
            <a:avLst/>
          </a:prstGeom>
          <a:noFill/>
        </p:spPr>
        <p:txBody>
          <a:bodyPr wrap="square" lIns="45720" rIns="45720" tIns="27432" bIns="27432" anchor="ctr">
            <a:spAutoFit/>
          </a:bodyPr>
          <a:lstStyle/>
          <a:p>
            <a:pPr algn="l">
              <a:spcAft>
                <a:spcPts val="300"/>
              </a:spcAft>
            </a:pPr>
            <a:r>
              <a:rPr sz="1500" b="1" i="0" lang="th-TH">
                <a:solidFill>
                  <a:srgbClr val="1B2B3A"/>
                </a:solidFill>
                <a:latin typeface="Tahoma"/>
                <a:ea typeface="Tahoma"/>
                <a:cs typeface="Tahoma"/>
              </a:rPr>
              <a:t>markPaid() เรียกซ้ำเขียนทับเวลา · notifyUser ไม่ตรวจ input</a:t>
            </a:r>
          </a:p>
          <a:p>
            <a:pPr algn="l">
              <a:spcAft>
                <a:spcPts val="0"/>
              </a:spcAft>
            </a:pPr>
            <a:r>
              <a:rPr sz="1300" b="0" i="0" lang="th-TH">
                <a:solidFill>
                  <a:srgbClr val="5B6B7A"/>
                </a:solidFill>
                <a:latin typeface="Tahoma"/>
                <a:ea typeface="Tahoma"/>
                <a:cs typeface="Tahoma"/>
              </a:rPr>
              <a:t>แก้: ทำให้ idempotent + ตรวจ input พร้อมเทสต์</a:t>
            </a:r>
          </a:p>
        </p:txBody>
      </p:sp>
      <p:sp>
        <p:nvSpPr>
          <p:cNvPr id="19"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5B6B7A"/>
                </a:solidFill>
                <a:latin typeface="Tahoma"/>
                <a:ea typeface="Tahoma"/>
                <a:cs typeface="Tahoma"/>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Title"/>
          <p:cNvSpPr txBox="1"/>
          <p:nvPr/>
        </p:nvSpPr>
        <p:spPr>
          <a:xfrm>
            <a:off x="548640" y="365760"/>
            <a:ext cx="11064240" cy="822960"/>
          </a:xfrm>
          <a:prstGeom prst="rect">
            <a:avLst/>
          </a:prstGeom>
          <a:noFill/>
        </p:spPr>
        <p:txBody>
          <a:bodyPr wrap="square" lIns="45720" rIns="45720" tIns="27432" bIns="27432" anchor="ctr">
            <a:spAutoFit/>
          </a:bodyPr>
          <a:lstStyle/>
          <a:p>
            <a:pPr algn="l">
              <a:spcAft>
                <a:spcPts val="0"/>
              </a:spcAft>
            </a:pPr>
            <a:r>
              <a:rPr sz="3400" b="1" i="0" lang="th-TH">
                <a:solidFill>
                  <a:srgbClr val="FFFFFF"/>
                </a:solidFill>
                <a:latin typeface="Tahoma"/>
                <a:ea typeface="Tahoma"/>
                <a:cs typeface="Tahoma"/>
              </a:rPr>
              <a:t>ข้อจำกัด และสิ่งที่ทำต่อ</a:t>
            </a:r>
          </a:p>
        </p:txBody>
      </p:sp>
      <p:sp>
        <p:nvSpPr>
          <p:cNvPr id="3" name="Rounded Rectangle 2"/>
          <p:cNvSpPr/>
          <p:nvPr/>
        </p:nvSpPr>
        <p:spPr>
          <a:xfrm>
            <a:off x="548640" y="1371600"/>
            <a:ext cx="5394960" cy="3931920"/>
          </a:xfrm>
          <a:prstGeom prst="roundRect">
            <a:avLst>
              <a:gd name="adj" fmla="val 6000"/>
            </a:avLst>
          </a:prstGeom>
          <a:solidFill>
            <a:srgbClr val="143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4937760" cy="3657600"/>
          </a:xfrm>
          <a:prstGeom prst="rect">
            <a:avLst/>
          </a:prstGeom>
          <a:noFill/>
        </p:spPr>
        <p:txBody>
          <a:bodyPr wrap="square" lIns="45720" rIns="45720" tIns="27432" bIns="27432" anchor="t">
            <a:spAutoFit/>
          </a:bodyPr>
          <a:lstStyle/>
          <a:p>
            <a:pPr algn="l">
              <a:spcAft>
                <a:spcPts val="1000"/>
              </a:spcAft>
            </a:pPr>
            <a:r>
              <a:rPr sz="2000" b="1" i="0" lang="th-TH">
                <a:solidFill>
                  <a:srgbClr val="B8D8D4"/>
                </a:solidFill>
                <a:latin typeface="Tahoma"/>
                <a:ea typeface="Tahoma"/>
                <a:cs typeface="Tahoma"/>
              </a:rPr>
              <a:t>ข้อจำกัดที่รู้</a:t>
            </a:r>
          </a:p>
          <a:p>
            <a:pPr algn="l">
              <a:spcAft>
                <a:spcPts val="800"/>
              </a:spcAft>
            </a:pPr>
            <a:r>
              <a:rPr sz="1500" b="0" i="0" lang="th-TH">
                <a:solidFill>
                  <a:srgbClr val="FFFFFF"/>
                </a:solidFill>
                <a:latin typeface="Tahoma"/>
                <a:ea typeface="Tahoma"/>
                <a:cs typeface="Tahoma"/>
              </a:rPr>
              <a:t>•  ยังไม่มีเทสต์จ่ายซ้ำพร้อมกันจริง (race)</a:t>
            </a:r>
          </a:p>
          <a:p>
            <a:pPr algn="l">
              <a:spcAft>
                <a:spcPts val="800"/>
              </a:spcAft>
            </a:pPr>
            <a:r>
              <a:rPr sz="1500" b="0" i="0" lang="th-TH">
                <a:solidFill>
                  <a:srgbClr val="FFFFFF"/>
                </a:solidFill>
                <a:latin typeface="Tahoma"/>
                <a:ea typeface="Tahoma"/>
                <a:cs typeface="Tahoma"/>
              </a:rPr>
              <a:t>•  @PreAuthorize ยืนยันแบบ manual ยังไม่มีเทสต์อัตโนมัติ</a:t>
            </a:r>
          </a:p>
          <a:p>
            <a:pPr algn="l">
              <a:spcAft>
                <a:spcPts val="800"/>
              </a:spcAft>
            </a:pPr>
            <a:r>
              <a:rPr sz="1500" b="0" i="0" lang="th-TH">
                <a:solidFill>
                  <a:srgbClr val="FFFFFF"/>
                </a:solidFill>
                <a:latin typeface="Tahoma"/>
                <a:ea typeface="Tahoma"/>
                <a:cs typeface="Tahoma"/>
              </a:rPr>
              <a:t>•  เทสต์ DB เป็นแบบ opt-in ยังไม่รันใน CI</a:t>
            </a:r>
          </a:p>
          <a:p>
            <a:pPr algn="l">
              <a:spcAft>
                <a:spcPts val="0"/>
              </a:spcAft>
            </a:pPr>
            <a:r>
              <a:rPr sz="1500" b="0" i="0" lang="th-TH">
                <a:solidFill>
                  <a:srgbClr val="FFFFFF"/>
                </a:solidFill>
                <a:latin typeface="Tahoma"/>
                <a:ea typeface="Tahoma"/>
                <a:cs typeface="Tahoma"/>
              </a:rPr>
              <a:t>•  หน้าเว็บยังไม่มีเทสต์ที่ render template (ตรวจด้วยการเปิดหน้าจริง)</a:t>
            </a:r>
          </a:p>
        </p:txBody>
      </p:sp>
      <p:sp>
        <p:nvSpPr>
          <p:cNvPr id="5" name="Rounded Rectangle 4"/>
          <p:cNvSpPr/>
          <p:nvPr/>
        </p:nvSpPr>
        <p:spPr>
          <a:xfrm>
            <a:off x="6217920" y="1371600"/>
            <a:ext cx="5394960" cy="3931920"/>
          </a:xfrm>
          <a:prstGeom prst="roundRect">
            <a:avLst>
              <a:gd name="adj" fmla="val 6000"/>
            </a:avLst>
          </a:prstGeom>
          <a:solidFill>
            <a:srgbClr val="1438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508760"/>
            <a:ext cx="4937760" cy="3657600"/>
          </a:xfrm>
          <a:prstGeom prst="rect">
            <a:avLst/>
          </a:prstGeom>
          <a:noFill/>
        </p:spPr>
        <p:txBody>
          <a:bodyPr wrap="square" lIns="45720" rIns="45720" tIns="27432" bIns="27432" anchor="t">
            <a:spAutoFit/>
          </a:bodyPr>
          <a:lstStyle/>
          <a:p>
            <a:pPr algn="l">
              <a:spcAft>
                <a:spcPts val="1000"/>
              </a:spcAft>
            </a:pPr>
            <a:r>
              <a:rPr sz="2000" b="1" i="0" lang="th-TH">
                <a:solidFill>
                  <a:srgbClr val="B8D8D4"/>
                </a:solidFill>
                <a:latin typeface="Tahoma"/>
                <a:ea typeface="Tahoma"/>
                <a:cs typeface="Tahoma"/>
              </a:rPr>
              <a:t>ต่อยอด</a:t>
            </a:r>
          </a:p>
          <a:p>
            <a:pPr algn="l">
              <a:spcAft>
                <a:spcPts val="800"/>
              </a:spcAft>
            </a:pPr>
            <a:r>
              <a:rPr sz="1500" b="0" i="0" lang="th-TH">
                <a:solidFill>
                  <a:srgbClr val="FFFFFF"/>
                </a:solidFill>
                <a:latin typeface="Tahoma"/>
                <a:ea typeface="Tahoma"/>
                <a:cs typeface="Tahoma"/>
              </a:rPr>
              <a:t>•  เพิ่ม PostgreSQL ใน CI</a:t>
            </a:r>
          </a:p>
          <a:p>
            <a:pPr algn="l">
              <a:spcAft>
                <a:spcPts val="800"/>
              </a:spcAft>
            </a:pPr>
            <a:r>
              <a:rPr sz="1500" b="0" i="0" lang="th-TH">
                <a:solidFill>
                  <a:srgbClr val="FFFFFF"/>
                </a:solidFill>
                <a:latin typeface="Tahoma"/>
                <a:ea typeface="Tahoma"/>
                <a:cs typeface="Tahoma"/>
              </a:rPr>
              <a:t>•  เทสต์ render หน้าเว็บอัตโนมัติ</a:t>
            </a:r>
          </a:p>
          <a:p>
            <a:pPr algn="l">
              <a:spcAft>
                <a:spcPts val="0"/>
              </a:spcAft>
            </a:pPr>
            <a:r>
              <a:rPr sz="1500" b="0" i="0" lang="th-TH">
                <a:solidFill>
                  <a:srgbClr val="FFFFFF"/>
                </a:solidFill>
                <a:latin typeface="Tahoma"/>
                <a:ea typeface="Tahoma"/>
                <a:cs typeface="Tahoma"/>
              </a:rPr>
              <a:t>•  หน้าเว็บจองเครื่อง ต่อจาก API จองเครื่อง (API มีแล้ว ทดสอบจองจนจ่ายเงินได้)</a:t>
            </a:r>
          </a:p>
        </p:txBody>
      </p:sp>
      <p:sp>
        <p:nvSpPr>
          <p:cNvPr id="7" name="TextBox 6"/>
          <p:cNvSpPr txBox="1"/>
          <p:nvPr/>
        </p:nvSpPr>
        <p:spPr>
          <a:xfrm>
            <a:off x="548640" y="5669280"/>
            <a:ext cx="11064240" cy="640080"/>
          </a:xfrm>
          <a:prstGeom prst="rect">
            <a:avLst/>
          </a:prstGeom>
          <a:noFill/>
        </p:spPr>
        <p:txBody>
          <a:bodyPr wrap="square" lIns="45720" rIns="45720" tIns="27432" bIns="27432" anchor="t">
            <a:spAutoFit/>
          </a:bodyPr>
          <a:lstStyle/>
          <a:p>
            <a:pPr algn="l">
              <a:spcAft>
                <a:spcPts val="0"/>
              </a:spcAft>
            </a:pPr>
            <a:r>
              <a:rPr sz="2600" b="1" i="0" lang="th-TH">
                <a:solidFill>
                  <a:srgbClr val="FFFFFF"/>
                </a:solidFill>
                <a:latin typeface="Tahoma"/>
                <a:ea typeface="Tahoma"/>
                <a:cs typeface="Tahoma"/>
              </a:rPr>
              <a:t>ขอบคุณครับ · ยินดีตอบคำถาม</a:t>
            </a:r>
          </a:p>
        </p:txBody>
      </p:sp>
      <p:sp>
        <p:nvSpPr>
          <p:cNvPr id="8" name="PageNumber"/>
          <p:cNvSpPr txBox="1"/>
          <p:nvPr/>
        </p:nvSpPr>
        <p:spPr>
          <a:xfrm>
            <a:off x="10424160" y="6355080"/>
            <a:ext cx="1280160" cy="320040"/>
          </a:xfrm>
          <a:prstGeom prst="rect">
            <a:avLst/>
          </a:prstGeom>
          <a:noFill/>
        </p:spPr>
        <p:txBody>
          <a:bodyPr wrap="square" lIns="45720" rIns="45720" tIns="27432" bIns="27432" anchor="t">
            <a:spAutoFit/>
          </a:bodyPr>
          <a:lstStyle/>
          <a:p>
            <a:pPr algn="r">
              <a:spcAft>
                <a:spcPts val="0"/>
              </a:spcAft>
            </a:pPr>
            <a:r>
              <a:rPr sz="1200" b="0" i="0" lang="th-TH">
                <a:solidFill>
                  <a:srgbClr val="B8D8D4"/>
                </a:solidFill>
                <a:latin typeface="Tahoma"/>
                <a:ea typeface="Tahoma"/>
                <a:cs typeface="Tahoma"/>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