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e87ae94f594990" /><Relationship Type="http://schemas.openxmlformats.org/officeDocument/2006/relationships/extended-properties" Target="/docProps/app.xml" Id="R618bb031a4424072" /><Relationship Type="http://schemas.openxmlformats.org/officeDocument/2006/relationships/officeDocument" Target="/ppt/presentation.xml" Id="R50f9055ef1f84d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b0a02fb97545aa"/>
  </p:sldMasterIdLst>
  <p:notesMasterIdLst>
    <p:notesMasterId xmlns:r="http://schemas.openxmlformats.org/officeDocument/2006/relationships" r:id="R9487bfecaa1b4123"/>
  </p:notesMasterIdLst>
  <p:sldIdLst>
    <p:sldId xmlns:r="http://schemas.openxmlformats.org/officeDocument/2006/relationships" id="256" r:id="R074270d7c2d744f0"/>
    <p:sldId xmlns:r="http://schemas.openxmlformats.org/officeDocument/2006/relationships" id="257" r:id="R326ff04b87314572"/>
    <p:sldId xmlns:r="http://schemas.openxmlformats.org/officeDocument/2006/relationships" id="258" r:id="R3271bd3cd0864e54"/>
    <p:sldId xmlns:r="http://schemas.openxmlformats.org/officeDocument/2006/relationships" id="259" r:id="Re9906eedecc84f4e"/>
    <p:sldId xmlns:r="http://schemas.openxmlformats.org/officeDocument/2006/relationships" id="260" r:id="Re88cba3b13114ef7"/>
    <p:sldId xmlns:r="http://schemas.openxmlformats.org/officeDocument/2006/relationships" id="261" r:id="Radda2a6806b746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f2771bedbf4563" /><Relationship Type="http://schemas.openxmlformats.org/officeDocument/2006/relationships/slideMaster" Target="/ppt/slideMasters/slideMaster1.xml" Id="R8fb0a02fb97545aa" /><Relationship Type="http://schemas.openxmlformats.org/officeDocument/2006/relationships/notesMaster" Target="/ppt/notesMasters/notesMaster1.xml" Id="R9487bfecaa1b4123" /><Relationship Type="http://schemas.openxmlformats.org/officeDocument/2006/relationships/presProps" Target="/ppt/presProps.xml" Id="R1d22ed7281254266" /><Relationship Type="http://schemas.openxmlformats.org/officeDocument/2006/relationships/tableStyles" Target="/ppt/tableStyles.xml" Id="R5d3ee23768c246bb" /><Relationship Type="http://schemas.openxmlformats.org/officeDocument/2006/relationships/slide" Target="/ppt/slides/slide1.xml" Id="R074270d7c2d744f0" /><Relationship Type="http://schemas.openxmlformats.org/officeDocument/2006/relationships/slide" Target="/ppt/slides/slide2.xml" Id="R326ff04b87314572" /><Relationship Type="http://schemas.openxmlformats.org/officeDocument/2006/relationships/slide" Target="/ppt/slides/slide3.xml" Id="R3271bd3cd0864e54" /><Relationship Type="http://schemas.openxmlformats.org/officeDocument/2006/relationships/slide" Target="/ppt/slides/slide4.xml" Id="Re9906eedecc84f4e" /><Relationship Type="http://schemas.openxmlformats.org/officeDocument/2006/relationships/slide" Target="/ppt/slides/slide5.xml" Id="Re88cba3b13114ef7" /><Relationship Type="http://schemas.openxmlformats.org/officeDocument/2006/relationships/slide" Target="/ppt/slides/slide6.xml" Id="Radda2a6806b746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783af30b3c4c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11aa3ca4d4b63" /><Relationship Type="http://schemas.openxmlformats.org/officeDocument/2006/relationships/notesMaster" Target="/ppt/notesMasters/notesMaster1.xml" Id="Rdc7abac2f24c48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220f802d644e8" /><Relationship Type="http://schemas.openxmlformats.org/officeDocument/2006/relationships/notesMaster" Target="/ppt/notesMasters/notesMaster1.xml" Id="R21876cca67174b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3620ce70204416" /><Relationship Type="http://schemas.openxmlformats.org/officeDocument/2006/relationships/notesMaster" Target="/ppt/notesMasters/notesMaster1.xml" Id="Rf7957935be6040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199aa65cb04ccb" /><Relationship Type="http://schemas.openxmlformats.org/officeDocument/2006/relationships/notesMaster" Target="/ppt/notesMasters/notesMaster1.xml" Id="R3cec07423d284c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ec3d1c184648f6" /><Relationship Type="http://schemas.openxmlformats.org/officeDocument/2006/relationships/notesMaster" Target="/ppt/notesMasters/notesMaster1.xml" Id="R7e005582c43f40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ab6d3c356646b9" /><Relationship Type="http://schemas.openxmlformats.org/officeDocument/2006/relationships/notesMaster" Target="/ppt/notesMasters/notesMaster1.xml" Id="R8aa8f02d9cd74e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0:00–0:40 อธิบายขอบเขตงานตัวเอง เปิด SelfServiceWebController.java:30 เพื่อแสดง constructor injection ของ service interfaces</a:t>
            </a:r>
          </a:p>
          <a:p xmlns:a="http://schemas.openxmlformats.org/drawingml/2006/main">
            <a:r>
              <a:t>แหล่งข้อมูล: develop 9a11daa, code/src/main/java/com/laundryhub/controller/web/SelfServiceWebController.java:30; doc/report/pond-sections.md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0:40–1:40 เปิด SessionServiceImpl.java:56 อธิบาย transaction ครอบ lock/validate/save เปิด SelfServicePricing.java:9 อธิบาย Strategy และ BigDecimal, BookingValidator.java:31 ตรวจช่วง 10–180 นาทีและเวลาไม่ย้อนหลัง</a:t>
            </a:r>
          </a:p>
          <a:p xmlns:a="http://schemas.openxmlformats.org/drawingml/2006/main">
            <a:r>
              <a:t>แหล่งข้อมูล: code/src/main/java/com/laundryhub/service/impl/SessionServiceImpl.java:56; service/pricing/SelfServicePricing.java:9; service/BookingValidator.java:31; doc/report/pond-deploy-demo.md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1:40–2:40 เปิด MachineState.java:5 กับ SessionServiceImpl.java:83,98,113,160 อธิบาย capability ของ State และ lock order เปิด MachineRepository.java:18 (PESSIMISTIC_WRITE) และ UsageSessionRepository.java overlap ใช้ strict inequalities อนุญาตรอบติดกัน</a:t>
            </a:r>
          </a:p>
          <a:p xmlns:a="http://schemas.openxmlformats.org/drawingml/2006/main">
            <a:r>
              <a:t>แหล่งข้อมูล: code/src/main/java/com/laundryhub/service/impl/SessionServiceImpl.java; service/state/MachineState.java:5; repository/MachineRepository.java:18; repository/UsageSessionRepository.java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2:40–3:30 เปิด SessionPayableProvider.java:23 และ SessionServiceImpl.java:185 → NotificationEventListener.java:32 อธิบาย adapter contract และ Observer ที่มีผู้ส่ง/ผู้รับจริง listener อยู่ใน transaction เดียวกัน ส่วน MachineStateFactory เป็น registry ไม่ใช่ GoF Factory Method</a:t>
            </a:r>
          </a:p>
          <a:p xmlns:a="http://schemas.openxmlformats.org/drawingml/2006/main">
            <a:r>
              <a:t>แหล่งข้อมูล: code/src/main/java/com/laundryhub/service/SessionPayableProvider.java:23; service/impl/SessionServiceImpl.java:185; event/NotificationEventListener.java:32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3:30–4:30 เดโมหรือใช้ภาพสำรอง ระบุว่าจ่าย QR จำลอง ไม่ใช่เงินจริง Session 1, Payment 1, Machine 2; ยอด 60.00 ชำระแล้ว Start IN_USE จากนั้น Finish COMPLETED และเครื่อง AVAILABLE; Notification ครบ4ขั้น</a:t>
            </a:r>
          </a:p>
          <a:p xmlns:a="http://schemas.openxmlformats.org/drawingml/2006/main">
            <a:r>
              <a:t>แหล่งข้อมูล: doc/report/pond-deploy-demo.md; ภาพ browser จริง output/pond-demo/05-completed.png และ06-machine-available.png; https://laundry-hub-1ltc.onrender.com ตรวจ10ตุลาคม2569 ไม่ยืนยันdeployment SHA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4:30–5:00 อธิบายข้อจำกัดตรงไปตรงมา ผล DB suite357/0skipเป็นผลรอบก่อน ไม่ใช้แทนรอบล่าสุด 369/36skip HTTP Render anonymous GETmachines401และrepeatfinish400 พีชปรับclassdiagram โอ๊ครวมcitation5จุด</a:t>
            </a:r>
          </a:p>
          <a:p xmlns:a="http://schemas.openxmlformats.org/drawingml/2006/main">
            <a:r>
              <a:t>แหล่งข้อมูล: doc/report/pond-sections.md; pond-contract-check.md; pond-deploy-demo.md; tmp/pdfs/diagram-fix-mvn-agent.log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a42333cce4d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3c9150b084e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b8defdd7074c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d078b0c9b40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692a66be84c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35b4afa3145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E0C9C7-84DE-413C-A4C8-B036F7FC0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682D94-05AA-4A34-9E0C-8D5AFB0BCD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06824E-095C-4C87-9557-C2CA8C0D5C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721C94-8ADF-4329-A7FE-C2CCFEF100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08D879D-567B-4188-A7BA-7C8C339DCB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BAA3BC-7B50-48B7-B503-65008E9D0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6079E0-BBAB-4D54-82BF-E3237EB2D3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5B009C-2445-4EC2-8259-79BC2D19C1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6AA9B9-A0D1-412B-B114-BFF657BC0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A58819-7E01-4439-8BC9-5D2BD26A6E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40b426cb9f41ec" /><Relationship Type="http://schemas.openxmlformats.org/officeDocument/2006/relationships/slideLayout" Target="/ppt/slideLayouts/slideLayout1.xml" Id="R8ae86c90eb714462" /><Relationship Type="http://schemas.openxmlformats.org/officeDocument/2006/relationships/slideLayout" Target="/ppt/slideLayouts/slideLayout2.xml" Id="Rfe21ee318dc94c0c" /><Relationship Type="http://schemas.openxmlformats.org/officeDocument/2006/relationships/slideLayout" Target="/ppt/slideLayouts/slideLayout3.xml" Id="Rdab3b43a1ce94acf" /><Relationship Type="http://schemas.openxmlformats.org/officeDocument/2006/relationships/slideLayout" Target="/ppt/slideLayouts/slideLayout4.xml" Id="R2952be5fba444700" /><Relationship Type="http://schemas.openxmlformats.org/officeDocument/2006/relationships/slideLayout" Target="/ppt/slideLayouts/slideLayout5.xml" Id="Rcf9b18b00e7b488d" /><Relationship Type="http://schemas.openxmlformats.org/officeDocument/2006/relationships/slideLayout" Target="/ppt/slideLayouts/slideLayout6.xml" Id="Rdbe8a855507744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e86c90eb714462"/>
    <p:sldLayoutId xmlns:r="http://schemas.openxmlformats.org/officeDocument/2006/relationships" id="2147483650" r:id="Rfe21ee318dc94c0c"/>
    <p:sldLayoutId xmlns:r="http://schemas.openxmlformats.org/officeDocument/2006/relationships" id="2147483651" r:id="Rdab3b43a1ce94acf"/>
    <p:sldLayoutId xmlns:r="http://schemas.openxmlformats.org/officeDocument/2006/relationships" id="2147483652" r:id="R2952be5fba444700"/>
    <p:sldLayoutId xmlns:r="http://schemas.openxmlformats.org/officeDocument/2006/relationships" id="2147483653" r:id="Rcf9b18b00e7b488d"/>
    <p:sldLayoutId xmlns:r="http://schemas.openxmlformats.org/officeDocument/2006/relationships" id="2147483654" r:id="Rdbe8a855507744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b7890977a04660" /><Relationship Type="http://schemas.openxmlformats.org/officeDocument/2006/relationships/notesSlide" Target="/ppt/notesSlides/notesSlide1.xml" Id="Rf61f6dcf612b4d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0da42bd6c4410" /><Relationship Type="http://schemas.openxmlformats.org/officeDocument/2006/relationships/notesSlide" Target="/ppt/notesSlides/notesSlide2.xml" Id="Rabb27f72530b4f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65e832d3848fc" /><Relationship Type="http://schemas.openxmlformats.org/officeDocument/2006/relationships/notesSlide" Target="/ppt/notesSlides/notesSlide3.xml" Id="Raccae9cbc35344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26307a5844bb2" /><Relationship Type="http://schemas.openxmlformats.org/officeDocument/2006/relationships/notesSlide" Target="/ppt/notesSlides/notesSlide4.xml" Id="R1f1002c835cc4d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53e29107b4071" /><Relationship Type="http://schemas.openxmlformats.org/officeDocument/2006/relationships/image" Target="/ppt/media/image.jpeg" Id="R5c77726bb59d4ba6" /><Relationship Type="http://schemas.openxmlformats.org/officeDocument/2006/relationships/image" Target="/ppt/media/image2.jpeg" Id="Ra78a1d06a3244b38" /><Relationship Type="http://schemas.openxmlformats.org/officeDocument/2006/relationships/notesSlide" Target="/ppt/notesSlides/notesSlide5.xml" Id="R4bf40d494ed445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0e775701e4b1f" /><Relationship Type="http://schemas.openxmlformats.org/officeDocument/2006/relationships/notesSlide" Target="/ppt/notesSlides/notesSlide6.xml" Id="Rea9fb7b21e7441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00F02-529A-4407-AB83-7BDB2C6A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4FA5"/>
                </a:solidFill>
                <a:latin typeface="Tahoma"/>
                <a:ea typeface="Tahoma"/>
                <a:cs typeface="Tahoma"/>
              </a:rPr>
              <a:t>Self-Service: เครื่องและรอบใช้งาน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12106-B4A3-4C1B-899D-0282706B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ลูกค้า: จองเครื่อง ดูประวัติ เริ่ม จบ และยกเลิกรอบ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29372-129E-403F-9643-00FAFAD1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พนักงาน: จัดการเครื่องและสถานะซ่อมบำรุง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093C1-162C-47D2-826A-4FE75621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REST และหน้าเว็บใช้ Service ร่วมกัน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387A4-C6A2-4548-BC18-FF135AE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เชื่อม Payment และ Notification ผ่าน contract ของทีม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4264E-2322-4FCB-8E32-7B478BD2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97B"/>
                </a:solidFill>
                <a:latin typeface="Tahoma"/>
                <a:ea typeface="Tahoma"/>
                <a:cs typeface="Tahoma"/>
              </a:rPr>
              <a:t>ปอนด์ • Self-Service • 10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416656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C66B1-520C-4F80-B573-0592D026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4FA5"/>
                </a:solidFill>
                <a:latin typeface="Tahoma"/>
                <a:ea typeface="Tahoma"/>
                <a:cs typeface="Tahoma"/>
              </a:rPr>
              <a:t>การจองและ Strategy คำนวณราคา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E930D-8998-44D4-8132-BA84F3AA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ตรวจเจ้าของ → ล็อกเครื่อง → ตรวจเวลาและการจองซ้อน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76B48-ECCD-4DC1-B07C-D1125955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ราคา = ค่าเริ่มต้น + ราคาต่อนาที × ระยะเวลา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108F4-C73D-4DFF-951D-7EDDBD95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เดโม: 30 + 1 × 30 = 60.00 บาท ใช้ BigDecimal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FE429-AEB4-497E-B6D3-85DEEADA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บันทึกยอดจาก server; ผู้ใช้ไม่ได้กำหนดยอดเอง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A86DE-CE83-4A0C-B881-7B017E7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97B"/>
                </a:solidFill>
                <a:latin typeface="Tahoma"/>
                <a:ea typeface="Tahoma"/>
                <a:cs typeface="Tahoma"/>
              </a:rPr>
              <a:t>ปอนด์ • Self-Service • 10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20062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20BF6-7500-48A7-8B87-227F6B83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4FA5"/>
                </a:solidFill>
                <a:latin typeface="Tahoma"/>
                <a:ea typeface="Tahoma"/>
                <a:cs typeface="Tahoma"/>
              </a:rPr>
              <a:t>สถานะและการป้องกันจองซ้อน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A2531-7A64-4A13-840C-CC8001D6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จอง: รอบ RESERVED; เครื่องยัง AVAILABLE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611BE-146E-406B-B097-FA039695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เริ่ม: ทั้งคู่ IN_USE → จบ: COMPLETED / AVAILABLE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1F553-D8F8-431A-8BEB-6C612850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ยกเลิกได้เฉพาะ RESERVED; ไม่ปล่อยเครื่องของรอบอื่น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C2585-3E89-4740-9DC9-A3D83F94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ล็อก Machine ก่อน Session; transaction อย่างเดียวไม่พอ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85B84-FB88-4FD5-AA12-7E946014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97B"/>
                </a:solidFill>
                <a:latin typeface="Tahoma"/>
                <a:ea typeface="Tahoma"/>
                <a:cs typeface="Tahoma"/>
              </a:rPr>
              <a:t>ปอนด์ • Self-Service • 10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1317068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9DEE9-5397-4E85-85D5-1B1814B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4FA5"/>
                </a:solidFill>
                <a:latin typeface="Tahoma"/>
                <a:ea typeface="Tahoma"/>
                <a:cs typeface="Tahoma"/>
              </a:rPr>
              <a:t>Payment และ Observer ของ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D7990-5E49-4BCD-ADE1-0DBE91C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SessionPayableProvider คืน UsageSession ผ่าน Payable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8BF78-B9C4-420F-B512-2FCED688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CheckoutFacade ตรวจเจ้าของและใช้ยอดจาก server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A7B20-8333-4101-BA84-0A0D391E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Session event → NotificationEventListener → แจ้งเตือน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5BE60-5199-45B4-AD16-4A45B495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listener เป็น synchronous; Machine event ยังไม่มีผู้รับ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78DC2-097E-460B-8A1C-E68E13D2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97B"/>
                </a:solidFill>
                <a:latin typeface="Tahoma"/>
                <a:ea typeface="Tahoma"/>
                <a:cs typeface="Tahoma"/>
              </a:rPr>
              <a:t>ปอนด์ • Self-Service • 10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77588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FEF6B-E4A9-4393-9A04-24E239F0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4FA5"/>
                </a:solidFill>
                <a:latin typeface="Tahoma"/>
                <a:ea typeface="Tahoma"/>
                <a:cs typeface="Tahoma"/>
              </a:rPr>
              <a:t>เดโมบน Render ผ่านครบหนึ่งรอบ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D09B6-2958-465E-B50E-13DDDAE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97B"/>
                </a:solidFill>
                <a:latin typeface="Tahoma"/>
                <a:ea typeface="Tahoma"/>
                <a:cs typeface="Tahoma"/>
              </a:rPr>
              <a:t>ปอนด์ • Self-Service • 10 ตุลาคม 2569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C5A48-302F-40D3-9F24-74F59DB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จอง → QR จำลอง → เริ่ม → จบ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7F518-ED65-40BA-83A6-C0F6B7107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77726bb59d4ba6"/>
          <a:stretch xmlns:a="http://schemas.openxmlformats.org/drawingml/2006/main"/>
        </p:blipFill>
        <p:spPr>
          <a:xfrm xmlns:a="http://schemas.openxmlformats.org/drawingml/2006/main">
            <a:off x="609600" y="2049812"/>
            <a:ext cx="5257800" cy="3015551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3FDFD-DCE2-4041-9E10-9486765647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a1d06a3244b38"/>
          <a:stretch xmlns:a="http://schemas.openxmlformats.org/drawingml/2006/main"/>
        </p:blipFill>
        <p:spPr>
          <a:xfrm xmlns:a="http://schemas.openxmlformats.org/drawingml/2006/main">
            <a:off x="6324600" y="2049812"/>
            <a:ext cx="5257800" cy="30155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199BB-7A37-4908-A403-10DD9CD0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รอบ 1 = COMPLETED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5D58E-2941-46B6-9D8A-DA18056E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149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เครื่อง 2 = AVAILABLE</a:t>
            </a:r>
          </a:p>
        </p:txBody>
      </p:sp>
    </p:spTree>
    <p:extLst>
      <p:ext uri="{BB962C8B-B14F-4D97-AF65-F5344CB8AC3E}">
        <p14:creationId xmlns:p14="http://schemas.microsoft.com/office/powerpoint/2010/main" val="1906722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F017E-669D-4701-B12A-2648CDDE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4FA5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74FA5"/>
                </a:solidFill>
                <a:latin typeface="Tahoma"/>
                <a:ea typeface="Tahoma"/>
                <a:cs typeface="Tahoma"/>
              </a:rPr>
              <a:t>ผลทดสอบและข้อจำกัด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11AF2-C42C-43F4-9734-30791BA7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Maven ล่าสุด: 369 รายการ ผ่าน 333 ข้าม PostgreSQL 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A7577-5B2C-4D5E-A2F4-B61E8E39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start ยังไม่บังคับเวลาเริ่มหรือชำระก่อนใช้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A759A-3320-4E0F-A7EE-0B7187DF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รอทีมยืนยัน: lifecycle 400 / brief 409 และ public 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0C286-1EB0-4101-BF04-2C8C61CF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4364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24364B"/>
                </a:solidFill>
                <a:latin typeface="Tahoma"/>
                <a:ea typeface="Tahoma"/>
                <a:cs typeface="Tahoma"/>
              </a:rPr>
              <a:t>QR จำลอง; เดโมนี้ไม่ได้ทดสอบ concurrency บน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7F66E-E973-4E6B-94B7-517CC16A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97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9697B"/>
                </a:solidFill>
                <a:latin typeface="Tahoma"/>
                <a:ea typeface="Tahoma"/>
                <a:cs typeface="Tahoma"/>
              </a:rPr>
              <a:t>ปอนด์ • Self-Service • 10 ตุลาคม 2569</a:t>
            </a:r>
          </a:p>
        </p:txBody>
      </p:sp>
    </p:spTree>
    <p:extLst>
      <p:ext uri="{BB962C8B-B14F-4D97-AF65-F5344CB8AC3E}">
        <p14:creationId xmlns:p14="http://schemas.microsoft.com/office/powerpoint/2010/main" val="9577805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2026-10-10T13:21:37.7350000Z</dcterms:created>
  <dcterms:modified xsi:type="dcterms:W3CDTF">2026-10-10T13:21:37.7350000Z</dcterms:modified>
</coreProperties>
</file>