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23a3c7e17849c8" /><Relationship Type="http://schemas.openxmlformats.org/officeDocument/2006/relationships/extended-properties" Target="/docProps/app.xml" Id="R392bf9f7f102427b" /><Relationship Type="http://schemas.openxmlformats.org/officeDocument/2006/relationships/officeDocument" Target="/ppt/presentation.xml" Id="R0396db4271dc49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e25195fec6480e"/>
  </p:sldMasterIdLst>
  <p:notesMasterIdLst>
    <p:notesMasterId xmlns:r="http://schemas.openxmlformats.org/officeDocument/2006/relationships" r:id="R214ed3625cc343d3"/>
  </p:notesMasterIdLst>
  <p:sldIdLst>
    <p:sldId xmlns:r="http://schemas.openxmlformats.org/officeDocument/2006/relationships" id="256" r:id="Ra3e8b190904b4eb3"/>
    <p:sldId xmlns:r="http://schemas.openxmlformats.org/officeDocument/2006/relationships" id="257" r:id="R93cb04249bf5437f"/>
    <p:sldId xmlns:r="http://schemas.openxmlformats.org/officeDocument/2006/relationships" id="258" r:id="Rf1feb85775fa4f8a"/>
    <p:sldId xmlns:r="http://schemas.openxmlformats.org/officeDocument/2006/relationships" id="259" r:id="R26d659aac77e42fb"/>
    <p:sldId xmlns:r="http://schemas.openxmlformats.org/officeDocument/2006/relationships" id="260" r:id="Re5fa31d3e34f4267"/>
    <p:sldId xmlns:r="http://schemas.openxmlformats.org/officeDocument/2006/relationships" id="261" r:id="Rb74b7a05b21847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2aac1a84c54256" /><Relationship Type="http://schemas.openxmlformats.org/officeDocument/2006/relationships/slideMaster" Target="/ppt/slideMasters/slideMaster1.xml" Id="Re4e25195fec6480e" /><Relationship Type="http://schemas.openxmlformats.org/officeDocument/2006/relationships/notesMaster" Target="/ppt/notesMasters/notesMaster1.xml" Id="R214ed3625cc343d3" /><Relationship Type="http://schemas.openxmlformats.org/officeDocument/2006/relationships/presProps" Target="/ppt/presProps.xml" Id="R38bf9b31fd664d77" /><Relationship Type="http://schemas.openxmlformats.org/officeDocument/2006/relationships/tableStyles" Target="/ppt/tableStyles.xml" Id="R1e7e24378889423d" /><Relationship Type="http://schemas.openxmlformats.org/officeDocument/2006/relationships/slide" Target="/ppt/slides/slide1.xml" Id="Ra3e8b190904b4eb3" /><Relationship Type="http://schemas.openxmlformats.org/officeDocument/2006/relationships/slide" Target="/ppt/slides/slide2.xml" Id="R93cb04249bf5437f" /><Relationship Type="http://schemas.openxmlformats.org/officeDocument/2006/relationships/slide" Target="/ppt/slides/slide3.xml" Id="Rf1feb85775fa4f8a" /><Relationship Type="http://schemas.openxmlformats.org/officeDocument/2006/relationships/slide" Target="/ppt/slides/slide4.xml" Id="R26d659aac77e42fb" /><Relationship Type="http://schemas.openxmlformats.org/officeDocument/2006/relationships/slide" Target="/ppt/slides/slide5.xml" Id="Re5fa31d3e34f4267" /><Relationship Type="http://schemas.openxmlformats.org/officeDocument/2006/relationships/slide" Target="/ppt/slides/slide6.xml" Id="Rb74b7a05b21847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22471b592c4b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dce7392a684748" /><Relationship Type="http://schemas.openxmlformats.org/officeDocument/2006/relationships/notesMaster" Target="/ppt/notesMasters/notesMaster1.xml" Id="Red4ffabe8d4b4d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fcd824c65a4cfe" /><Relationship Type="http://schemas.openxmlformats.org/officeDocument/2006/relationships/notesMaster" Target="/ppt/notesMasters/notesMaster1.xml" Id="R90d694d0473b40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88db66889546cb" /><Relationship Type="http://schemas.openxmlformats.org/officeDocument/2006/relationships/notesMaster" Target="/ppt/notesMasters/notesMaster1.xml" Id="Rccb09ff329d740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4e1c910ba045ad" /><Relationship Type="http://schemas.openxmlformats.org/officeDocument/2006/relationships/notesMaster" Target="/ppt/notesMasters/notesMaster1.xml" Id="R2a2181b1d36f46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e13f9049ca4be8" /><Relationship Type="http://schemas.openxmlformats.org/officeDocument/2006/relationships/notesMaster" Target="/ppt/notesMasters/notesMaster1.xml" Id="R000a9ff7f65e4a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204edb52204893" /><Relationship Type="http://schemas.openxmlformats.org/officeDocument/2006/relationships/notesMaster" Target="/ppt/notesMasters/notesMaster1.xml" Id="R13d509f87c304d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0:00–0:40 อธิบายขอบเขตงานตัวเอง เปิด SelfServiceWebController.java:34 เพื่อแสดง constructor injection ของ service interfaces</a:t>
            </a:r>
          </a:p>
          <a:p xmlns:a="http://schemas.openxmlformats.org/drawingml/2006/main">
            <a:r>
              <a:t>แหล่งข้อมูล: develop bf9d636 หลัง PR #37, code/src/main/java/com/laundryhub/controller/web/SelfServiceWebController.java:34; doc/report/pond-sections.md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0:40–1:40 เปิด SessionServiceImpl.java:56 อธิบาย transaction ครอบ lock/validate/save เปิด SelfServicePricing.java:9 อธิบาย Strategy และ BigDecimal, BookingValidator.java:31 ตรวจช่วง 10–180 นาทีและเวลาไม่ย้อนหลัง</a:t>
            </a:r>
          </a:p>
          <a:p xmlns:a="http://schemas.openxmlformats.org/drawingml/2006/main">
            <a:r>
              <a:t>แหล่งข้อมูล: code/src/main/java/com/laundryhub/service/impl/SessionServiceImpl.java:56; service/pricing/SelfServicePricing.java:9; service/BookingValidator.java:31; doc/report/pond-deploy-demo.md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1:40–2:40 เปิด MachineState.java:5 กับ SessionServiceImpl.java:83,98,113,160 อธิบาย capability ของ State และ lock order เปิด MachineRepository.java:18 (PESSIMISTIC_WRITE) และ UsageSessionRepository.java overlap ใช้ strict inequalities อนุญาตรอบติดกัน</a:t>
            </a:r>
          </a:p>
          <a:p xmlns:a="http://schemas.openxmlformats.org/drawingml/2006/main">
            <a:r>
              <a:t>แหล่งข้อมูล: code/src/main/java/com/laundryhub/service/impl/SessionServiceImpl.java; service/state/MachineState.java:5; repository/MachineRepository.java:18; repository/UsageSessionRepository.java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2:40–3:30 เปิด SessionPayableProvider.java:23 และ SessionServiceImpl.java:185 → NotificationEventListener.java:32 อธิบาย adapter contract และ Observer ที่มีผู้ส่ง/ผู้รับจริง listener อยู่ใน transaction เดียวกัน ส่วน MachineStateFactory เป็น registry ไม่ใช่ GoF Factory Method</a:t>
            </a:r>
          </a:p>
          <a:p xmlns:a="http://schemas.openxmlformats.org/drawingml/2006/main">
            <a:r>
              <a:t>แหล่งข้อมูล: code/src/main/java/com/laundryhub/service/SessionPayableProvider.java:23; service/impl/SessionServiceImpl.java:185; event/NotificationEventListener.java:32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3:30–4:30 เดโมหรือใช้ภาพสำรอง ระบุว่าจ่าย QR จำลอง ไม่ใช่เงินจริง Session 5, Payment 4, Machine 2; ยอด 60.00 ชำระแล้ว Start IN_USE จากนั้น Finish COMPLETED และเครื่อง AVAILABLE; Notification ครบ4ขั้น; หลังจ่ายปุ่มชำระหาย แสดงส่งรายการชำระเงินแล้ว; UI badge ภาษาไทย</a:t>
            </a:r>
          </a:p>
          <a:p xmlns:a="http://schemas.openxmlformats.org/drawingml/2006/main">
            <a:r>
              <a:t>แหล่งข้อมูล: doc/report/pond-deploy-demo.md; ภาพ browser จริง img/pond-demo-05-completed.png และimg/pond-demo-06-machine-available.png; https://laundry-hub-1ltc.onrender.com ตรวจ10ตุลาคม2569 ไม่ยืนยันdeployment SHA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4:30–5:00 อธิบายข้อจำกัดตรงไปตรงมา ผล DB suite357/0skipเป็นผลรอบก่อน ไม่ใช้แทนรอบล่าสุด 376/36skip HTTP Render anonymous GETmachines401และrepeatfinish400 พีชปรับclassdiagram โอ๊ครวมcitation5จุด</a:t>
            </a:r>
          </a:p>
          <a:p xmlns:a="http://schemas.openxmlformats.org/drawingml/2006/main">
            <a:r>
              <a:t>แหล่งข้อมูล: doc/report/pond-sections.md; pond-contract-check.md; pond-deploy-demo.md; tmp/pdfs/diagram-fix-mvn-agent.log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3f94bd9c9341f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c5e06c3db344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60fa32b1b049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4c8ac1bdf462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b9a1420abe412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10b8dd866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68C53B3-1679-401A-BA99-4EC2360CB9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9A8B500-9041-4BEA-9E39-47CA8C7F3D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E1E0E8F-EACE-41C7-B18B-EBBD946F14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97A5C8-6C34-41E7-92DC-57160CB589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787DA6-BAAF-4567-A70B-126F6B2ED7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18B6E9-4A52-4252-A84B-57F5322F07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D8063F-4709-46E5-8A7F-768CA5ACED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DD3467C-21A2-4EDD-9DB0-30A043E360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230FAF-DE5F-448C-81A3-B30209A704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DDCA8A5-B4A4-4DAE-B7E8-711D166C29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1acb495a29462b" /><Relationship Type="http://schemas.openxmlformats.org/officeDocument/2006/relationships/slideLayout" Target="/ppt/slideLayouts/slideLayout1.xml" Id="R66ae8bbe2e13427e" /><Relationship Type="http://schemas.openxmlformats.org/officeDocument/2006/relationships/slideLayout" Target="/ppt/slideLayouts/slideLayout2.xml" Id="Re5d7e8a4be084976" /><Relationship Type="http://schemas.openxmlformats.org/officeDocument/2006/relationships/slideLayout" Target="/ppt/slideLayouts/slideLayout3.xml" Id="Rebf01b3ea91c4ac9" /><Relationship Type="http://schemas.openxmlformats.org/officeDocument/2006/relationships/slideLayout" Target="/ppt/slideLayouts/slideLayout4.xml" Id="Rafd6810efe654375" /><Relationship Type="http://schemas.openxmlformats.org/officeDocument/2006/relationships/slideLayout" Target="/ppt/slideLayouts/slideLayout5.xml" Id="Rf467a571d0fa40c7" /><Relationship Type="http://schemas.openxmlformats.org/officeDocument/2006/relationships/slideLayout" Target="/ppt/slideLayouts/slideLayout6.xml" Id="Ra26c5fa8c9bb4e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ae8bbe2e13427e"/>
    <p:sldLayoutId xmlns:r="http://schemas.openxmlformats.org/officeDocument/2006/relationships" id="2147483650" r:id="Re5d7e8a4be084976"/>
    <p:sldLayoutId xmlns:r="http://schemas.openxmlformats.org/officeDocument/2006/relationships" id="2147483651" r:id="Rebf01b3ea91c4ac9"/>
    <p:sldLayoutId xmlns:r="http://schemas.openxmlformats.org/officeDocument/2006/relationships" id="2147483652" r:id="Rafd6810efe654375"/>
    <p:sldLayoutId xmlns:r="http://schemas.openxmlformats.org/officeDocument/2006/relationships" id="2147483653" r:id="Rf467a571d0fa40c7"/>
    <p:sldLayoutId xmlns:r="http://schemas.openxmlformats.org/officeDocument/2006/relationships" id="2147483654" r:id="Ra26c5fa8c9bb4e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47f7886c574c8e" /><Relationship Type="http://schemas.openxmlformats.org/officeDocument/2006/relationships/notesSlide" Target="/ppt/notesSlides/notesSlide1.xml" Id="R147921b05daf48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d52e9386e54664" /><Relationship Type="http://schemas.openxmlformats.org/officeDocument/2006/relationships/notesSlide" Target="/ppt/notesSlides/notesSlide2.xml" Id="R8eb8252bcbaf4d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a94fc2ccda45b9" /><Relationship Type="http://schemas.openxmlformats.org/officeDocument/2006/relationships/notesSlide" Target="/ppt/notesSlides/notesSlide3.xml" Id="R6f14a6bede5441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1ed312da0b4ae2" /><Relationship Type="http://schemas.openxmlformats.org/officeDocument/2006/relationships/notesSlide" Target="/ppt/notesSlides/notesSlide4.xml" Id="Rf015546eb19a4c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d8ff8032bb4f67" /><Relationship Type="http://schemas.openxmlformats.org/officeDocument/2006/relationships/image" Target="/ppt/media/image.jpeg" Id="R76eabb269c814aef" /><Relationship Type="http://schemas.openxmlformats.org/officeDocument/2006/relationships/image" Target="/ppt/media/image2.jpeg" Id="R656bf163023949b2" /><Relationship Type="http://schemas.openxmlformats.org/officeDocument/2006/relationships/notesSlide" Target="/ppt/notesSlides/notesSlide5.xml" Id="Rf53818878dc248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a50a07860640d1" /><Relationship Type="http://schemas.openxmlformats.org/officeDocument/2006/relationships/notesSlide" Target="/ppt/notesSlides/notesSlide6.xml" Id="R06eaf675ea5647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81703-A9DC-4B41-99A9-A88D43F8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74FA5"/>
                </a:solidFill>
                <a:latin typeface="Tahoma"/>
                <a:ea typeface="Tahoma"/>
                <a:cs typeface="Tahoma"/>
              </a:rPr>
              <a:t>Self-Service: เครื่องและรอบใช้งาน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53CE1-595B-46F5-89F4-8A686539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ลูกค้า: จองเครื่อง ดูประวัติ เริ่ม จบ และยกเลิกรอบ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37B2DB-D75B-4975-9558-A51D379B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พนักงาน: จัดการเครื่องและสถานะซ่อมบำรุง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89685-D863-4DBF-9882-BFEB2879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REST และหน้าเว็บใช้ Service ร่วมกัน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661E5-C831-4A95-90CC-5FAA1236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เชื่อม Payment และ Notification ผ่าน contract ของทีม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951CA2-ED6C-4D06-B817-F91F74E8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59697B"/>
                </a:solidFill>
                <a:latin typeface="Tahoma"/>
                <a:ea typeface="Tahoma"/>
                <a:cs typeface="Tahoma"/>
              </a:rPr>
              <a:t>ปอนด์ • Self-Service • 10 ตุลาคม 2569</a:t>
            </a:r>
          </a:p>
        </p:txBody>
      </p:sp>
    </p:spTree>
    <p:extLst>
      <p:ext uri="{BB962C8B-B14F-4D97-AF65-F5344CB8AC3E}">
        <p14:creationId xmlns:p14="http://schemas.microsoft.com/office/powerpoint/2010/main" val="1917243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B1208-06F3-411E-B7E1-9A885F7E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74FA5"/>
                </a:solidFill>
                <a:latin typeface="Tahoma"/>
                <a:ea typeface="Tahoma"/>
                <a:cs typeface="Tahoma"/>
              </a:rPr>
              <a:t>การจองและ Strategy คำนวณราคา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BF47E-A149-41C2-8E31-92D8E9A2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ตรวจเจ้าของ → ล็อกเครื่อง → ตรวจเวลาและการจองซ้อน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20B28-BE73-4544-8AEA-75887387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ราคา = ค่าเริ่มต้น + ราคาต่อนาที × ระยะเวลา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0F4CB-A235-42D1-8BE2-1E5E65EC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เดโม: 30 + 1 × 30 = 60.00 บาท ใช้ BigDecimal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3292E-DBBD-446B-9D25-AC978F40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บันทึกยอดจาก server; ผู้ใช้ไม่ได้กำหนดยอดเอง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CACF5-3A81-427A-B78D-8A72A104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59697B"/>
                </a:solidFill>
                <a:latin typeface="Tahoma"/>
                <a:ea typeface="Tahoma"/>
                <a:cs typeface="Tahoma"/>
              </a:rPr>
              <a:t>ปอนด์ • Self-Service • 10 ตุลาคม 2569</a:t>
            </a:r>
          </a:p>
        </p:txBody>
      </p:sp>
    </p:spTree>
    <p:extLst>
      <p:ext uri="{BB962C8B-B14F-4D97-AF65-F5344CB8AC3E}">
        <p14:creationId xmlns:p14="http://schemas.microsoft.com/office/powerpoint/2010/main" val="743287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9DA50-08D6-4480-9A37-CBF2707F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74FA5"/>
                </a:solidFill>
                <a:latin typeface="Tahoma"/>
                <a:ea typeface="Tahoma"/>
                <a:cs typeface="Tahoma"/>
              </a:rPr>
              <a:t>สถานะและการป้องกันจองซ้อน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8C45D-AEC0-464C-9457-3C19A7EB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จอง: รอบ RESERVED; เครื่องยัง AVAILABLE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DC876-B7F6-4F16-BAA2-6203D007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เริ่ม: ทั้งคู่ IN_USE → จบ: COMPLETED / AVAILABLE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F0852-2BC6-49A2-82DA-75075B10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ยกเลิกได้เฉพาะ RESERVED; ไม่ปล่อยเครื่องของรอบอื่น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F54F2-4661-449F-B58F-830C341B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ล็อก Machine ก่อน Session; transaction อย่างเดียวไม่พอ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D5EA4-1FB5-43B7-ADE3-EF6C8BA1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59697B"/>
                </a:solidFill>
                <a:latin typeface="Tahoma"/>
                <a:ea typeface="Tahoma"/>
                <a:cs typeface="Tahoma"/>
              </a:rPr>
              <a:t>ปอนด์ • Self-Service • 10 ตุลาคม 2569</a:t>
            </a:r>
          </a:p>
        </p:txBody>
      </p:sp>
    </p:spTree>
    <p:extLst>
      <p:ext uri="{BB962C8B-B14F-4D97-AF65-F5344CB8AC3E}">
        <p14:creationId xmlns:p14="http://schemas.microsoft.com/office/powerpoint/2010/main" val="4892061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E1EE6-DF2F-4632-8B50-42E85AD7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74FA5"/>
                </a:solidFill>
                <a:latin typeface="Tahoma"/>
                <a:ea typeface="Tahoma"/>
                <a:cs typeface="Tahoma"/>
              </a:rPr>
              <a:t>Payment และ Observer ของ Session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FF205-8E5F-4D4E-B1EA-6DE0658C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SessionPayableProvider คืน UsageSession ผ่าน Payable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BC113-F56F-42F8-A5F2-323EDAF8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CheckoutFacade ตรวจเจ้าของและใช้ยอดจาก server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C0566-EE8A-492B-AE9D-72249E97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Session event → NotificationEventListener → แจ้งเตือน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C888B-4600-4B66-93E4-26CD0D84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listener เป็น synchronous; Machine event ยังไม่มีผู้รับ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C0D5F-31CB-470C-96E6-EB69A47A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59697B"/>
                </a:solidFill>
                <a:latin typeface="Tahoma"/>
                <a:ea typeface="Tahoma"/>
                <a:cs typeface="Tahoma"/>
              </a:rPr>
              <a:t>ปอนด์ • Self-Service • 10 ตุลาคม 2569</a:t>
            </a:r>
          </a:p>
        </p:txBody>
      </p:sp>
    </p:spTree>
    <p:extLst>
      <p:ext uri="{BB962C8B-B14F-4D97-AF65-F5344CB8AC3E}">
        <p14:creationId xmlns:p14="http://schemas.microsoft.com/office/powerpoint/2010/main" val="14393722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159E6-2A09-4750-BB18-59A764C8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74FA5"/>
                </a:solidFill>
                <a:latin typeface="Tahoma"/>
                <a:ea typeface="Tahoma"/>
                <a:cs typeface="Tahoma"/>
              </a:rPr>
              <a:t>เดโมบน Render ผ่านครบหนึ่งรอบ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434467-819F-4450-94DE-63EDA92A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59697B"/>
                </a:solidFill>
                <a:latin typeface="Tahoma"/>
                <a:ea typeface="Tahoma"/>
                <a:cs typeface="Tahoma"/>
              </a:rPr>
              <a:t>ปอนด์ • Self-Service • 10 ตุลาคม 2569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B7C70-DC38-4656-8240-7002628E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จอง → QR จำลอง → เริ่ม → จบ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A84CB-7077-4409-9642-632F7B0702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abb269c814aef"/>
          <a:stretch xmlns:a="http://schemas.openxmlformats.org/drawingml/2006/main"/>
        </p:blipFill>
        <p:spPr>
          <a:xfrm xmlns:a="http://schemas.openxmlformats.org/drawingml/2006/main">
            <a:off x="609600" y="2078831"/>
            <a:ext cx="5257800" cy="2957513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7B6D1C-2447-4D67-8C63-E5B5228AEE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bf163023949b2"/>
          <a:stretch xmlns:a="http://schemas.openxmlformats.org/drawingml/2006/main"/>
        </p:blipFill>
        <p:spPr>
          <a:xfrm xmlns:a="http://schemas.openxmlformats.org/drawingml/2006/main">
            <a:off x="6324600" y="2078831"/>
            <a:ext cx="5257800" cy="295751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F1E04-3B0B-4743-9928-3773A155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รอบ 5 = เสร็จสิ้น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FFF8-C622-44A7-B4F2-3BD3407E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31495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เครื่อง 2 = ว่าง</a:t>
            </a:r>
          </a:p>
        </p:txBody>
      </p:sp>
    </p:spTree>
    <p:extLst>
      <p:ext uri="{BB962C8B-B14F-4D97-AF65-F5344CB8AC3E}">
        <p14:creationId xmlns:p14="http://schemas.microsoft.com/office/powerpoint/2010/main" val="5491824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E256A-F24A-43D4-AC48-2BE8E02A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4FA5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74FA5"/>
                </a:solidFill>
                <a:latin typeface="Tahoma"/>
                <a:ea typeface="Tahoma"/>
                <a:cs typeface="Tahoma"/>
              </a:rPr>
              <a:t>ผลทดสอบและข้อจำกัด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45050-A09E-42AB-9D54-0C756E49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Maven ล่าสุด: 376 รายการ ผ่าน 340 ข้าม PostgreSQL 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55649-5A7D-435B-BFB8-4C322E84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start ยังไม่บังคับเวลาเริ่มหรือชำระก่อนใช้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EF906-DA59-4D61-A2AE-88AE503C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รอทีมยืนยัน: lifecycle 400 / brief 409 และ public GET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CA03F3-EF1D-400D-994C-00B221C3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364B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24364B"/>
                </a:solidFill>
                <a:latin typeface="Tahoma"/>
                <a:ea typeface="Tahoma"/>
                <a:cs typeface="Tahoma"/>
              </a:rPr>
              <a:t>QR จำลอง; เดโมนี้ไม่ได้ทดสอบ concurrency บน Render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E6898-41FD-422C-A3C3-0563B68A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9697B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59697B"/>
                </a:solidFill>
                <a:latin typeface="Tahoma"/>
                <a:ea typeface="Tahoma"/>
                <a:cs typeface="Tahoma"/>
              </a:rPr>
              <a:t>ปอนด์ • Self-Service • 10 ตุลาคม 2569</a:t>
            </a:r>
          </a:p>
        </p:txBody>
      </p:sp>
    </p:spTree>
    <p:extLst>
      <p:ext uri="{BB962C8B-B14F-4D97-AF65-F5344CB8AC3E}">
        <p14:creationId xmlns:p14="http://schemas.microsoft.com/office/powerpoint/2010/main" val="8875006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2026-10-10T15:15:10.4890000Z</dcterms:created>
  <dcterms:modified xsi:type="dcterms:W3CDTF">2026-10-10T15:15:10.4890000Z</dcterms:modified>
</coreProperties>
</file>